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image" Target="../media/image-3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6" Type="http://schemas.openxmlformats.org/officeDocument/2006/relationships/image" Target="../media/image-3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image" Target="../media/image-3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image" Target="../media/image-4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image" Target="../media/image-43-3.png"/><Relationship Id="rId4" Type="http://schemas.openxmlformats.org/officeDocument/2006/relationships/image" Target="../media/image-43-4.png"/><Relationship Id="rId5" Type="http://schemas.openxmlformats.org/officeDocument/2006/relationships/image" Target="../media/image-43-5.png"/><Relationship Id="rId6" Type="http://schemas.openxmlformats.org/officeDocument/2006/relationships/image" Target="../media/image-4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image" Target="../media/image-4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77840" y="274320"/>
            <a:ext cx="3291840" cy="4480560"/>
          </a:xfrm>
          <a:prstGeom prst="rect">
            <a:avLst/>
          </a:prstGeom>
          <a:solidFill>
            <a:srgbClr val="E8E8E2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5577840" y="2350008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Image: Bamboo Building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320040"/>
            <a:ext cx="4846320" cy="36576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57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Bamboo in Building Systems: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Traditional Applications to Contemporary Architecture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Prospects for Adaptation in Nigeria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212848"/>
            <a:ext cx="3657600" cy="36576"/>
          </a:xfrm>
          <a:prstGeom prst="rect">
            <a:avLst/>
          </a:prstGeom>
          <a:solidFill>
            <a:srgbClr val="E8E8E2"/>
          </a:solidFill>
          <a:ln w="12700">
            <a:solidFill>
              <a:srgbClr val="E8E8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3317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806 – Advanced Building Technology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65176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  |  Department  |  Date</a:t>
            </a:r>
            <a:endParaRPr lang="en-US" sz="1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114800"/>
            <a:ext cx="502920" cy="5029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88720" y="4251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7BA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Construction · Renewable Materials · Structural Innovation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5943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accounts for significant global resource consumption and carbon emissions.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Sustainable, renewable materials are increasingly being explored in building practice.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Bamboo has evolved from a traditional building material into a contemporary structural material.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projects demonstrate its use in modern building systems.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 possesses abundant bamboo resources but its architectural potential remains underutilized.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0" y="1005840"/>
            <a:ext cx="2286000" cy="3840480"/>
          </a:xfrm>
          <a:prstGeom prst="rect">
            <a:avLst/>
          </a:prstGeom>
          <a:solidFill>
            <a:srgbClr val="E8E8E2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6583680" y="276148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and Objectives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777240"/>
          </a:xfrm>
          <a:prstGeom prst="rect">
            <a:avLst/>
          </a:prstGeom>
          <a:solidFill>
            <a:srgbClr val="EDF3EC"/>
          </a:solidFill>
          <a:ln w="12700">
            <a:solidFill>
              <a:srgbClr val="7BAE7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972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325880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examine the evolution of bamboo in building systems, explore its application in contemporary architecture, and assess its prospects for adaptation in Nigeria.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292608" cy="29260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860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28600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bamboo as a building material.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807208"/>
            <a:ext cx="292608" cy="29260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807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807208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its evolution from traditional to contemporary applications.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328416"/>
            <a:ext cx="292608" cy="29260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3284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3328416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building systems where bamboo has been successfully used.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3849624"/>
            <a:ext cx="292608" cy="29260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84962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3849624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selected international case studies.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4370832"/>
            <a:ext cx="292608" cy="29260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3708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4370832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opportunities and challenges for adapting bamboo in Nigeria.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Bamboo as a Building Material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577840" cy="1051560"/>
          </a:xfrm>
          <a:prstGeom prst="rect">
            <a:avLst/>
          </a:prstGeom>
          <a:solidFill>
            <a:srgbClr val="EDF3EC"/>
          </a:solidFill>
          <a:ln w="12700">
            <a:solidFill>
              <a:srgbClr val="7BAE7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332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261872"/>
            <a:ext cx="5349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Bamboo is a fast-growing perennial grass with high strength-to-weight characteristics, widely used in construction due to its structural efficiency, renewability, and rapid regeneration.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267712"/>
            <a:ext cx="1005840" cy="1188720"/>
          </a:xfrm>
          <a:prstGeom prst="rect">
            <a:avLst/>
          </a:prstGeom>
          <a:solidFill>
            <a:srgbClr val="FAFAF7"/>
          </a:solidFill>
          <a:ln w="12700">
            <a:solidFill>
              <a:srgbClr val="7BAE7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2359152"/>
            <a:ext cx="512064" cy="5120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84632" y="2907792"/>
            <a:ext cx="9509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572768" y="2267712"/>
            <a:ext cx="1005840" cy="1188720"/>
          </a:xfrm>
          <a:prstGeom prst="rect">
            <a:avLst/>
          </a:prstGeom>
          <a:solidFill>
            <a:srgbClr val="FAFAF7"/>
          </a:solidFill>
          <a:ln w="12700">
            <a:solidFill>
              <a:srgbClr val="7BAE7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656" y="2359152"/>
            <a:ext cx="512064" cy="5120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2907792"/>
            <a:ext cx="9509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2688336" y="2267712"/>
            <a:ext cx="1005840" cy="1188720"/>
          </a:xfrm>
          <a:prstGeom prst="rect">
            <a:avLst/>
          </a:prstGeom>
          <a:solidFill>
            <a:srgbClr val="FAFAF7"/>
          </a:solidFill>
          <a:ln w="12700">
            <a:solidFill>
              <a:srgbClr val="7BAE7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5224" y="2359152"/>
            <a:ext cx="512064" cy="5120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715768" y="2907792"/>
            <a:ext cx="9509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Tensile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3803904" y="2267712"/>
            <a:ext cx="1005840" cy="1188720"/>
          </a:xfrm>
          <a:prstGeom prst="rect">
            <a:avLst/>
          </a:prstGeom>
          <a:solidFill>
            <a:srgbClr val="FAFAF7"/>
          </a:solidFill>
          <a:ln w="12700">
            <a:solidFill>
              <a:srgbClr val="7BAE7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0792" y="2359152"/>
            <a:ext cx="512064" cy="51206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831336" y="2907792"/>
            <a:ext cx="9509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Growth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4919472" y="2267712"/>
            <a:ext cx="1005840" cy="1188720"/>
          </a:xfrm>
          <a:prstGeom prst="rect">
            <a:avLst/>
          </a:prstGeom>
          <a:solidFill>
            <a:srgbClr val="FAFAF7"/>
          </a:solidFill>
          <a:ln w="12700">
            <a:solidFill>
              <a:srgbClr val="7BAE7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6360" y="2359152"/>
            <a:ext cx="512064" cy="51206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946904" y="2907792"/>
            <a:ext cx="9509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Locally Available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(Tropical Regions)</a:t>
            </a:r>
            <a:endParaRPr lang="en-US" sz="900" dirty="0"/>
          </a:p>
        </p:txBody>
      </p:sp>
      <p:sp>
        <p:nvSpPr>
          <p:cNvPr id="22" name="Shape 15"/>
          <p:cNvSpPr/>
          <p:nvPr/>
        </p:nvSpPr>
        <p:spPr>
          <a:xfrm>
            <a:off x="6263640" y="1005840"/>
            <a:ext cx="2514600" cy="2468880"/>
          </a:xfrm>
          <a:prstGeom prst="rect">
            <a:avLst/>
          </a:prstGeom>
          <a:solidFill>
            <a:srgbClr val="E8E8E2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23" name="Text 16"/>
          <p:cNvSpPr/>
          <p:nvPr/>
        </p:nvSpPr>
        <p:spPr>
          <a:xfrm>
            <a:off x="6263640" y="2075688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Image: Bamboo Culms / Cross-section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6263640" y="3520440"/>
            <a:ext cx="2514600" cy="1371600"/>
          </a:xfrm>
          <a:prstGeom prst="rect">
            <a:avLst/>
          </a:prstGeom>
          <a:solidFill>
            <a:srgbClr val="E8E8E2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25" name="Text 18"/>
          <p:cNvSpPr/>
          <p:nvPr/>
        </p:nvSpPr>
        <p:spPr>
          <a:xfrm>
            <a:off x="6263640" y="4041648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Diagram: Botanical cross-section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Bamboo? Key Attributes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2606040" cy="347472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8755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2606040" cy="1024128"/>
          </a:xfrm>
          <a:prstGeom prst="rect">
            <a:avLst/>
          </a:prstGeom>
          <a:solidFill>
            <a:srgbClr val="FAFAF7"/>
          </a:solidFill>
          <a:ln w="12700">
            <a:solidFill>
              <a:srgbClr val="E8E8E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4592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8992" y="1600200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Strength-to-Weight Ratio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2578608"/>
            <a:ext cx="2606040" cy="1024128"/>
          </a:xfrm>
          <a:prstGeom prst="rect">
            <a:avLst/>
          </a:prstGeom>
          <a:solidFill>
            <a:srgbClr val="FAFAF7"/>
          </a:solidFill>
          <a:ln w="12700">
            <a:solidFill>
              <a:srgbClr val="E8E8E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807208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78992" y="2761488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65760" y="3739896"/>
            <a:ext cx="2606040" cy="1024128"/>
          </a:xfrm>
          <a:prstGeom prst="rect">
            <a:avLst/>
          </a:prstGeom>
          <a:solidFill>
            <a:srgbClr val="FAFAF7"/>
          </a:solidFill>
          <a:ln w="12700">
            <a:solidFill>
              <a:srgbClr val="E8E8E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968496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78992" y="3922776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Tensile Capacity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3200400" y="987552"/>
            <a:ext cx="2606040" cy="347472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200400" y="98755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3200400" y="1417320"/>
            <a:ext cx="2606040" cy="1024128"/>
          </a:xfrm>
          <a:prstGeom prst="rect">
            <a:avLst/>
          </a:prstGeom>
          <a:solidFill>
            <a:srgbClr val="FAFAF7"/>
          </a:solidFill>
          <a:ln w="12700">
            <a:solidFill>
              <a:srgbClr val="E8E8E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645920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913632" y="1600200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Resource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3200400" y="2578608"/>
            <a:ext cx="2606040" cy="1024128"/>
          </a:xfrm>
          <a:prstGeom prst="rect">
            <a:avLst/>
          </a:prstGeom>
          <a:solidFill>
            <a:srgbClr val="FAFAF7"/>
          </a:solidFill>
          <a:ln w="12700">
            <a:solidFill>
              <a:srgbClr val="E8E8E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2807208"/>
            <a:ext cx="502920" cy="5029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913632" y="2761488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Sequestration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3200400" y="3739896"/>
            <a:ext cx="2606040" cy="1024128"/>
          </a:xfrm>
          <a:prstGeom prst="rect">
            <a:avLst/>
          </a:prstGeom>
          <a:solidFill>
            <a:srgbClr val="FAFAF7"/>
          </a:solidFill>
          <a:ln w="12700">
            <a:solidFill>
              <a:srgbClr val="E8E8E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7560" y="3968496"/>
            <a:ext cx="502920" cy="50292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3913632" y="3922776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Embodied Energy</a:t>
            </a:r>
            <a:endParaRPr lang="en-US" sz="1100" dirty="0"/>
          </a:p>
        </p:txBody>
      </p:sp>
      <p:sp>
        <p:nvSpPr>
          <p:cNvPr id="26" name="Shape 18"/>
          <p:cNvSpPr/>
          <p:nvPr/>
        </p:nvSpPr>
        <p:spPr>
          <a:xfrm>
            <a:off x="6035040" y="987552"/>
            <a:ext cx="2606040" cy="347472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6035040" y="98755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6035040" y="1417320"/>
            <a:ext cx="2606040" cy="1024128"/>
          </a:xfrm>
          <a:prstGeom prst="rect">
            <a:avLst/>
          </a:prstGeom>
          <a:solidFill>
            <a:srgbClr val="FAFAF7"/>
          </a:solidFill>
          <a:ln w="12700">
            <a:solidFill>
              <a:srgbClr val="E8E8E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200" y="1645920"/>
            <a:ext cx="502920" cy="50292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748272" y="1600200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Versatile Material</a:t>
            </a:r>
            <a:endParaRPr lang="en-US" sz="1100" dirty="0"/>
          </a:p>
        </p:txBody>
      </p:sp>
      <p:sp>
        <p:nvSpPr>
          <p:cNvPr id="31" name="Shape 22"/>
          <p:cNvSpPr/>
          <p:nvPr/>
        </p:nvSpPr>
        <p:spPr>
          <a:xfrm>
            <a:off x="6035040" y="2578608"/>
            <a:ext cx="2606040" cy="1024128"/>
          </a:xfrm>
          <a:prstGeom prst="rect">
            <a:avLst/>
          </a:prstGeom>
          <a:solidFill>
            <a:srgbClr val="FAFAF7"/>
          </a:solidFill>
          <a:ln w="12700">
            <a:solidFill>
              <a:srgbClr val="E8E8E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2200" y="2807208"/>
            <a:ext cx="502920" cy="50292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6748272" y="2761488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Aesthetic Appeal</a:t>
            </a:r>
            <a:endParaRPr lang="en-US" sz="1100" dirty="0"/>
          </a:p>
        </p:txBody>
      </p:sp>
      <p:sp>
        <p:nvSpPr>
          <p:cNvPr id="34" name="Shape 24"/>
          <p:cNvSpPr/>
          <p:nvPr/>
        </p:nvSpPr>
        <p:spPr>
          <a:xfrm>
            <a:off x="6035040" y="3739896"/>
            <a:ext cx="2606040" cy="1024128"/>
          </a:xfrm>
          <a:prstGeom prst="rect">
            <a:avLst/>
          </a:prstGeom>
          <a:solidFill>
            <a:srgbClr val="FAFAF7"/>
          </a:solidFill>
          <a:ln w="12700">
            <a:solidFill>
              <a:srgbClr val="E8E8E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72200" y="3968496"/>
            <a:ext cx="502920" cy="502920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6748272" y="3922776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Adaptable to Building Systems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Uses of Bamboo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920240" cy="640080"/>
          </a:xfrm>
          <a:prstGeom prst="rect">
            <a:avLst/>
          </a:prstGeom>
          <a:solidFill>
            <a:srgbClr val="EDF3EC"/>
          </a:solidFill>
          <a:ln w="12700">
            <a:solidFill>
              <a:srgbClr val="7BAE7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468880" y="1097280"/>
            <a:ext cx="1920240" cy="640080"/>
          </a:xfrm>
          <a:prstGeom prst="rect">
            <a:avLst/>
          </a:prstGeom>
          <a:solidFill>
            <a:srgbClr val="EDF3EC"/>
          </a:solidFill>
          <a:ln w="12700">
            <a:solidFill>
              <a:srgbClr val="7BAE7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8880" y="10972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 Framing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097280"/>
            <a:ext cx="1920240" cy="640080"/>
          </a:xfrm>
          <a:prstGeom prst="rect">
            <a:avLst/>
          </a:prstGeom>
          <a:solidFill>
            <a:srgbClr val="EDF3EC"/>
          </a:solidFill>
          <a:ln w="12700">
            <a:solidFill>
              <a:srgbClr val="7BAE7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0972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75120" y="1097280"/>
            <a:ext cx="1920240" cy="640080"/>
          </a:xfrm>
          <a:prstGeom prst="rect">
            <a:avLst/>
          </a:prstGeom>
          <a:solidFill>
            <a:srgbClr val="EDF3EC"/>
          </a:solidFill>
          <a:ln w="12700">
            <a:solidFill>
              <a:srgbClr val="7BAE7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10972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011680"/>
            <a:ext cx="1920240" cy="640080"/>
          </a:xfrm>
          <a:prstGeom prst="rect">
            <a:avLst/>
          </a:prstGeom>
          <a:solidFill>
            <a:srgbClr val="FAFAF7"/>
          </a:solidFill>
          <a:ln w="12700">
            <a:solidFill>
              <a:srgbClr val="7BAE7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0116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Fencing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468880" y="2011680"/>
            <a:ext cx="1920240" cy="640080"/>
          </a:xfrm>
          <a:prstGeom prst="rect">
            <a:avLst/>
          </a:prstGeom>
          <a:solidFill>
            <a:srgbClr val="FAFAF7"/>
          </a:solidFill>
          <a:ln w="12700">
            <a:solidFill>
              <a:srgbClr val="7BAE7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20116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2011680"/>
            <a:ext cx="1920240" cy="640080"/>
          </a:xfrm>
          <a:prstGeom prst="rect">
            <a:avLst/>
          </a:prstGeom>
          <a:solidFill>
            <a:srgbClr val="FAFAF7"/>
          </a:solidFill>
          <a:ln w="12700">
            <a:solidFill>
              <a:srgbClr val="7BAE7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20116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3035808"/>
            <a:ext cx="7680960" cy="0"/>
          </a:xfrm>
          <a:prstGeom prst="line">
            <a:avLst/>
          </a:prstGeom>
          <a:noFill/>
          <a:ln w="25400">
            <a:solidFill>
              <a:srgbClr val="7BAE7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2871216"/>
            <a:ext cx="329184" cy="329184"/>
          </a:xfrm>
          <a:prstGeom prst="oval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-91440" y="32918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07408" y="2871216"/>
            <a:ext cx="329184" cy="329184"/>
          </a:xfrm>
          <a:prstGeom prst="oval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49040" y="32918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Preservation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47888" y="2871216"/>
            <a:ext cx="329184" cy="329184"/>
          </a:xfrm>
          <a:prstGeom prst="oval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0" y="32918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Construction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2697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BA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Timeline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0" y="987552"/>
            <a:ext cx="2377440" cy="1645920"/>
          </a:xfrm>
          <a:prstGeom prst="rect">
            <a:avLst/>
          </a:prstGeom>
          <a:solidFill>
            <a:srgbClr val="E8E8E2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6400800" y="164592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Image: Traditional bamboo structures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Limitations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468880" cy="1325880"/>
          </a:xfrm>
          <a:prstGeom prst="rect">
            <a:avLst/>
          </a:prstGeom>
          <a:solidFill>
            <a:srgbClr val="FAFAF7"/>
          </a:solidFill>
          <a:ln w="12700">
            <a:solidFill>
              <a:srgbClr val="D4A853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170432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76479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200400" y="1097280"/>
            <a:ext cx="2468880" cy="1325880"/>
          </a:xfrm>
          <a:prstGeom prst="rect">
            <a:avLst/>
          </a:prstGeom>
          <a:solidFill>
            <a:srgbClr val="FAFAF7"/>
          </a:solidFill>
          <a:ln w="12700">
            <a:solidFill>
              <a:srgbClr val="D4A853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1170432"/>
            <a:ext cx="54864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00400" y="176479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943600" y="1097280"/>
            <a:ext cx="2468880" cy="1325880"/>
          </a:xfrm>
          <a:prstGeom prst="rect">
            <a:avLst/>
          </a:prstGeom>
          <a:solidFill>
            <a:srgbClr val="FAFAF7"/>
          </a:solidFill>
          <a:ln w="12700">
            <a:solidFill>
              <a:srgbClr val="D4A853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170432"/>
            <a:ext cx="548640" cy="5486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943600" y="176479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Decay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457200" y="2606040"/>
            <a:ext cx="2468880" cy="1325880"/>
          </a:xfrm>
          <a:prstGeom prst="rect">
            <a:avLst/>
          </a:prstGeom>
          <a:solidFill>
            <a:srgbClr val="FAFAF7"/>
          </a:solidFill>
          <a:ln w="12700">
            <a:solidFill>
              <a:srgbClr val="D4A853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" y="2679192"/>
            <a:ext cx="548640" cy="5486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57200" y="327355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3200400" y="2606040"/>
            <a:ext cx="2468880" cy="1325880"/>
          </a:xfrm>
          <a:prstGeom prst="rect">
            <a:avLst/>
          </a:prstGeom>
          <a:solidFill>
            <a:srgbClr val="FAFAF7"/>
          </a:solidFill>
          <a:ln w="12700">
            <a:solidFill>
              <a:srgbClr val="D4A853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0520" y="2679192"/>
            <a:ext cx="548640" cy="54864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200400" y="327355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5943600" y="2606040"/>
            <a:ext cx="2468880" cy="1325880"/>
          </a:xfrm>
          <a:prstGeom prst="rect">
            <a:avLst/>
          </a:prstGeom>
          <a:solidFill>
            <a:srgbClr val="FAFAF7"/>
          </a:solidFill>
          <a:ln w="12700">
            <a:solidFill>
              <a:srgbClr val="D4A853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3720" y="2679192"/>
            <a:ext cx="548640" cy="54864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943600" y="327355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457200" y="4251960"/>
            <a:ext cx="8229600" cy="603504"/>
          </a:xfrm>
          <a:prstGeom prst="rect">
            <a:avLst/>
          </a:prstGeom>
          <a:solidFill>
            <a:srgbClr val="EDF3EC"/>
          </a:solidFill>
          <a:ln w="12700">
            <a:solidFill>
              <a:srgbClr val="7BAE7F"/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548640" y="4279392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limitations have driven innovations in treatment, detailing, and building systems.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of Bamboo in Construction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BA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&amp; 2: Traditional → Improved Preservation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502920" cy="502920"/>
          </a:xfrm>
          <a:prstGeom prst="oval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" y="1920240"/>
            <a:ext cx="0" cy="1371600"/>
          </a:xfrm>
          <a:prstGeom prst="line">
            <a:avLst/>
          </a:prstGeom>
          <a:noFill/>
          <a:ln w="25400">
            <a:solidFill>
              <a:srgbClr val="7BAE7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051560" y="1188720"/>
            <a:ext cx="7635240" cy="1417320"/>
          </a:xfrm>
          <a:prstGeom prst="rect">
            <a:avLst/>
          </a:prstGeom>
          <a:solidFill>
            <a:srgbClr val="FDF6E9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22529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Bamboo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1572768"/>
            <a:ext cx="7452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housing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structures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3246120"/>
            <a:ext cx="502920" cy="502920"/>
          </a:xfrm>
          <a:prstGeom prst="oval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51560" y="3017520"/>
            <a:ext cx="7635240" cy="1417320"/>
          </a:xfrm>
          <a:prstGeom prst="rect">
            <a:avLst/>
          </a:prstGeom>
          <a:solidFill>
            <a:srgbClr val="EDF3EC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305409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Preservation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3401568"/>
            <a:ext cx="7452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Borax/boric acid treatment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Seasoning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treatment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preservation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0" y="1143000"/>
            <a:ext cx="3657600" cy="1371600"/>
          </a:xfrm>
          <a:prstGeom prst="rect">
            <a:avLst/>
          </a:prstGeom>
          <a:solidFill>
            <a:srgbClr val="E8E8E2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029200" y="166420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Image: Traditional bamboo structure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of Bamboo in Construction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BA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&amp; 4: Improved Joinery → Contemporary Construction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502920" cy="502920"/>
          </a:xfrm>
          <a:prstGeom prst="oval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" y="1920240"/>
            <a:ext cx="0" cy="1371600"/>
          </a:xfrm>
          <a:prstGeom prst="line">
            <a:avLst/>
          </a:prstGeom>
          <a:noFill/>
          <a:ln w="25400">
            <a:solidFill>
              <a:srgbClr val="7BAE7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051560" y="1188720"/>
            <a:ext cx="7635240" cy="1417320"/>
          </a:xfrm>
          <a:prstGeom prst="rect">
            <a:avLst/>
          </a:prstGeom>
          <a:solidFill>
            <a:srgbClr val="FDF6E9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22529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Joinery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1572768"/>
            <a:ext cx="7452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Bolts and steel connectors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Bamboo dowels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Rope → Mechanical joints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3246120"/>
            <a:ext cx="502920" cy="502920"/>
          </a:xfrm>
          <a:prstGeom prst="oval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51560" y="3017520"/>
            <a:ext cx="7635240" cy="1417320"/>
          </a:xfrm>
          <a:prstGeom prst="rect">
            <a:avLst/>
          </a:prstGeom>
          <a:solidFill>
            <a:srgbClr val="EDF3EC"/>
          </a:solidFill>
          <a:ln w="12700">
            <a:solidFill>
              <a:srgbClr val="2D50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305409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Contemporary Bamboo Construction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3401568"/>
            <a:ext cx="7452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Long-span structures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and sports halls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Pavilions and resorts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structural systems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0" y="1143000"/>
            <a:ext cx="3657600" cy="1371600"/>
          </a:xfrm>
          <a:prstGeom prst="rect">
            <a:avLst/>
          </a:prstGeom>
          <a:solidFill>
            <a:srgbClr val="E8E8E2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029200" y="166420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Image: Modern bamboo joint detail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of Innovation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234440" y="1097280"/>
            <a:ext cx="822960" cy="822960"/>
          </a:xfrm>
          <a:prstGeom prst="oval">
            <a:avLst/>
          </a:prstGeom>
          <a:solidFill>
            <a:srgbClr val="EDF3EC"/>
          </a:solidFill>
          <a:ln w="12700">
            <a:solidFill>
              <a:srgbClr val="7BAE7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8448" y="1161288"/>
            <a:ext cx="694944" cy="6949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20116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Goals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050792" y="1097280"/>
            <a:ext cx="822960" cy="822960"/>
          </a:xfrm>
          <a:prstGeom prst="oval">
            <a:avLst/>
          </a:prstGeom>
          <a:solidFill>
            <a:srgbClr val="EDF3EC"/>
          </a:solidFill>
          <a:ln w="12700">
            <a:solidFill>
              <a:srgbClr val="7BAE7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161288"/>
            <a:ext cx="694944" cy="6949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27832" y="20116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Carbon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 of Conventional Materials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6867144" y="1097280"/>
            <a:ext cx="822960" cy="822960"/>
          </a:xfrm>
          <a:prstGeom prst="oval">
            <a:avLst/>
          </a:prstGeom>
          <a:solidFill>
            <a:srgbClr val="EDF3EC"/>
          </a:solidFill>
          <a:ln w="12700">
            <a:solidFill>
              <a:srgbClr val="7BAE7F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1152" y="1161288"/>
            <a:ext cx="694944" cy="6949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44184" y="20116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Advances in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Preservation Techniques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1234440" y="2971800"/>
            <a:ext cx="822960" cy="822960"/>
          </a:xfrm>
          <a:prstGeom prst="oval">
            <a:avLst/>
          </a:prstGeom>
          <a:solidFill>
            <a:srgbClr val="EDF3EC"/>
          </a:solidFill>
          <a:ln w="12700">
            <a:solidFill>
              <a:srgbClr val="7BAE7F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8448" y="3035808"/>
            <a:ext cx="694944" cy="69494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11480" y="38862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Design &amp;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Analysis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4050792" y="2971800"/>
            <a:ext cx="822960" cy="822960"/>
          </a:xfrm>
          <a:prstGeom prst="oval">
            <a:avLst/>
          </a:prstGeom>
          <a:solidFill>
            <a:srgbClr val="EDF3EC"/>
          </a:solidFill>
          <a:ln w="12700">
            <a:solidFill>
              <a:srgbClr val="7BAE7F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0" y="3035808"/>
            <a:ext cx="694944" cy="69494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227832" y="38862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Materials</a:t>
            </a:r>
            <a:endParaRPr lang="en-US" sz="1150" dirty="0"/>
          </a:p>
        </p:txBody>
      </p:sp>
      <p:sp>
        <p:nvSpPr>
          <p:cNvPr id="19" name="Shape 12"/>
          <p:cNvSpPr/>
          <p:nvPr/>
        </p:nvSpPr>
        <p:spPr>
          <a:xfrm>
            <a:off x="6867144" y="2971800"/>
            <a:ext cx="822960" cy="822960"/>
          </a:xfrm>
          <a:prstGeom prst="oval">
            <a:avLst/>
          </a:prstGeom>
          <a:solidFill>
            <a:srgbClr val="EDF3EC"/>
          </a:solidFill>
          <a:ln w="12700">
            <a:solidFill>
              <a:srgbClr val="7BAE7F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1152" y="3035808"/>
            <a:ext cx="694944" cy="69494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044184" y="38862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Technology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Contemporary Construction Approaches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977640" cy="1051560"/>
          </a:xfrm>
          <a:prstGeom prst="rect">
            <a:avLst/>
          </a:prstGeom>
          <a:solidFill>
            <a:srgbClr val="FAFAF7"/>
          </a:solidFill>
          <a:ln w="12700">
            <a:solidFill>
              <a:srgbClr val="7BAE7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256032" cy="1051560"/>
          </a:xfrm>
          <a:prstGeom prst="rect">
            <a:avLst/>
          </a:prstGeom>
          <a:solidFill>
            <a:srgbClr val="4A7C5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15214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44752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Treated bamboo construction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3977640" cy="1051560"/>
          </a:xfrm>
          <a:prstGeom prst="rect">
            <a:avLst/>
          </a:prstGeom>
          <a:solidFill>
            <a:srgbClr val="FAFAF7"/>
          </a:solidFill>
          <a:ln w="12700">
            <a:solidFill>
              <a:srgbClr val="7BAE7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97280"/>
            <a:ext cx="256032" cy="1051560"/>
          </a:xfrm>
          <a:prstGeom prst="rect">
            <a:avLst/>
          </a:prstGeom>
          <a:solidFill>
            <a:srgbClr val="4A7C5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15214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83480" y="1444752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bamboo systems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359152"/>
            <a:ext cx="3977640" cy="1051560"/>
          </a:xfrm>
          <a:prstGeom prst="rect">
            <a:avLst/>
          </a:prstGeom>
          <a:solidFill>
            <a:srgbClr val="FAFAF7"/>
          </a:solidFill>
          <a:ln w="12700">
            <a:solidFill>
              <a:srgbClr val="7BAE7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359152"/>
            <a:ext cx="256032" cy="1051560"/>
          </a:xfrm>
          <a:prstGeom prst="rect">
            <a:avLst/>
          </a:prstGeom>
          <a:solidFill>
            <a:srgbClr val="4A7C5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41401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2706624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Prefabricated bamboo components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2359152"/>
            <a:ext cx="3977640" cy="1051560"/>
          </a:xfrm>
          <a:prstGeom prst="rect">
            <a:avLst/>
          </a:prstGeom>
          <a:solidFill>
            <a:srgbClr val="FAFAF7"/>
          </a:solidFill>
          <a:ln w="12700">
            <a:solidFill>
              <a:srgbClr val="7BAE7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359152"/>
            <a:ext cx="256032" cy="1051560"/>
          </a:xfrm>
          <a:prstGeom prst="rect">
            <a:avLst/>
          </a:prstGeom>
          <a:solidFill>
            <a:srgbClr val="8B69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241401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2706624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bamboo–steel systems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3621024"/>
            <a:ext cx="3977640" cy="1051560"/>
          </a:xfrm>
          <a:prstGeom prst="rect">
            <a:avLst/>
          </a:prstGeom>
          <a:solidFill>
            <a:srgbClr val="FAFAF7"/>
          </a:solidFill>
          <a:ln w="12700">
            <a:solidFill>
              <a:srgbClr val="7BAE7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621024"/>
            <a:ext cx="256032" cy="1051560"/>
          </a:xfrm>
          <a:prstGeom prst="rect">
            <a:avLst/>
          </a:prstGeom>
          <a:solidFill>
            <a:srgbClr val="8B69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6758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3968496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bamboo–concrete systems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63440" y="3621024"/>
            <a:ext cx="3977640" cy="1051560"/>
          </a:xfrm>
          <a:prstGeom prst="rect">
            <a:avLst/>
          </a:prstGeom>
          <a:solidFill>
            <a:srgbClr val="FAFAF7"/>
          </a:solidFill>
          <a:ln w="12700">
            <a:solidFill>
              <a:srgbClr val="7BAE7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3621024"/>
            <a:ext cx="256032" cy="1051560"/>
          </a:xfrm>
          <a:prstGeom prst="rect">
            <a:avLst/>
          </a:prstGeom>
          <a:solidFill>
            <a:srgbClr val="8B69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36758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83480" y="3968496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Bamboo space frames and gridshells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4645152"/>
            <a:ext cx="8412480" cy="320040"/>
          </a:xfrm>
          <a:prstGeom prst="rect">
            <a:avLst/>
          </a:prstGeom>
          <a:solidFill>
            <a:srgbClr val="E8E8E2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365760" y="4640580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Image: Contemporary bamboo structure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Frame Systems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560320" cy="2011680"/>
          </a:xfrm>
          <a:prstGeom prst="rect">
            <a:avLst/>
          </a:prstGeom>
          <a:solidFill>
            <a:srgbClr val="FAFAF7"/>
          </a:solidFill>
          <a:ln w="12700">
            <a:solidFill>
              <a:srgbClr val="4A7C59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75488" y="1078992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389888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 buildings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centres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Resorts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3154680"/>
            <a:ext cx="2560320" cy="1691640"/>
          </a:xfrm>
          <a:prstGeom prst="rect">
            <a:avLst/>
          </a:prstGeom>
          <a:solidFill>
            <a:srgbClr val="FAFAF7"/>
          </a:solidFill>
          <a:ln w="12700">
            <a:solidFill>
              <a:srgbClr val="8B6914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" y="3227832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Members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538728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560320" cy="1691640"/>
          </a:xfrm>
          <a:prstGeom prst="rect">
            <a:avLst/>
          </a:prstGeom>
          <a:solidFill>
            <a:srgbClr val="FAFAF7"/>
          </a:solidFill>
          <a:ln w="12700">
            <a:solidFill>
              <a:srgbClr val="2D501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10128" y="1078992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1389888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construction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structural behaviour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resource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89320" y="1005840"/>
            <a:ext cx="2788920" cy="3840480"/>
          </a:xfrm>
          <a:prstGeom prst="rect">
            <a:avLst/>
          </a:prstGeom>
          <a:solidFill>
            <a:srgbClr val="E8E8E2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5989320" y="2761488"/>
            <a:ext cx="2788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Diagram: Structural frame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2834640"/>
            <a:ext cx="2560320" cy="256032"/>
          </a:xfrm>
          <a:prstGeom prst="rect">
            <a:avLst/>
          </a:prstGeom>
          <a:solidFill>
            <a:srgbClr val="EDF3EC"/>
          </a:solidFill>
          <a:ln w="12700">
            <a:solidFill>
              <a:srgbClr val="7BAE7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28346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for low-to-mid rise buildings in tropical climates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 Systems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874520" cy="54864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Trusses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68880" y="1005840"/>
            <a:ext cx="1874520" cy="54864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8880" y="100584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1005840"/>
            <a:ext cx="1874520" cy="54864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00584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75120" y="1005840"/>
            <a:ext cx="1874520" cy="54864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100584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Frames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64208"/>
            <a:ext cx="5029200" cy="3200400"/>
          </a:xfrm>
          <a:prstGeom prst="rect">
            <a:avLst/>
          </a:prstGeom>
          <a:solidFill>
            <a:srgbClr val="E8E8E2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365760" y="3099816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Image: Bamboo roof truss / arch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23560" y="1664208"/>
            <a:ext cx="3154680" cy="3200400"/>
          </a:xfrm>
          <a:prstGeom prst="rect">
            <a:avLst/>
          </a:prstGeom>
          <a:solidFill>
            <a:srgbClr val="FAFAF7"/>
          </a:solidFill>
          <a:ln w="12700">
            <a:solidFill>
              <a:srgbClr val="2D501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733288" y="1737360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715000" y="2048256"/>
            <a:ext cx="2971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span capability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− reduces structural load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ventilation integration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structural weight on walls/foundations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Systems and Building Envelope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657600" cy="2286000"/>
          </a:xfrm>
          <a:prstGeom prst="rect">
            <a:avLst/>
          </a:prstGeom>
          <a:solidFill>
            <a:srgbClr val="FAFAF7"/>
          </a:solidFill>
          <a:ln w="12700">
            <a:solidFill>
              <a:srgbClr val="4A7C59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75488" y="1078992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389888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Load-bearing walls (selected systems)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walls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Façades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and shading devices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3429000"/>
            <a:ext cx="3657600" cy="1463040"/>
          </a:xfrm>
          <a:prstGeom prst="rect">
            <a:avLst/>
          </a:prstGeom>
          <a:solidFill>
            <a:srgbClr val="FAFAF7"/>
          </a:solidFill>
          <a:ln w="12700">
            <a:solidFill>
              <a:srgbClr val="8B6914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" y="3502152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Benefits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813048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ventilation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Daylighting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control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Aesthetic quality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51960" y="1005840"/>
            <a:ext cx="4526280" cy="3886200"/>
          </a:xfrm>
          <a:prstGeom prst="rect">
            <a:avLst/>
          </a:prstGeom>
          <a:solidFill>
            <a:srgbClr val="E8E8E2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4251960" y="2784348"/>
            <a:ext cx="4526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Image: Bamboo wall / facade / screen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Building Systems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BA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Systems · Pedestrian Bridges · Pavilions · Special Structures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508760" cy="1920240"/>
          </a:xfrm>
          <a:prstGeom prst="rect">
            <a:avLst/>
          </a:prstGeom>
          <a:solidFill>
            <a:srgbClr val="FAFAF7"/>
          </a:solidFill>
          <a:ln w="12700">
            <a:solidFill>
              <a:srgbClr val="7BAE7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115568"/>
            <a:ext cx="566928" cy="566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02336" y="1737360"/>
            <a:ext cx="14356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Systems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057400" y="1005840"/>
            <a:ext cx="1508760" cy="1920240"/>
          </a:xfrm>
          <a:prstGeom prst="rect">
            <a:avLst/>
          </a:prstGeom>
          <a:solidFill>
            <a:srgbClr val="FAFAF7"/>
          </a:solidFill>
          <a:ln w="12700">
            <a:solidFill>
              <a:srgbClr val="7BAE7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2888" y="1115568"/>
            <a:ext cx="566928" cy="5669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93976" y="1737360"/>
            <a:ext cx="14356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Pedestrian Bridges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749040" y="1005840"/>
            <a:ext cx="1508760" cy="1920240"/>
          </a:xfrm>
          <a:prstGeom prst="rect">
            <a:avLst/>
          </a:prstGeom>
          <a:solidFill>
            <a:srgbClr val="FAFAF7"/>
          </a:solidFill>
          <a:ln w="12700">
            <a:solidFill>
              <a:srgbClr val="7BAE7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528" y="1115568"/>
            <a:ext cx="566928" cy="56692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785616" y="1737360"/>
            <a:ext cx="14356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Pavilions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5440680" y="1005840"/>
            <a:ext cx="1508760" cy="1920240"/>
          </a:xfrm>
          <a:prstGeom prst="rect">
            <a:avLst/>
          </a:prstGeom>
          <a:solidFill>
            <a:srgbClr val="FAFAF7"/>
          </a:solidFill>
          <a:ln w="12700">
            <a:solidFill>
              <a:srgbClr val="7BAE7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6168" y="1115568"/>
            <a:ext cx="566928" cy="56692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477256" y="1737360"/>
            <a:ext cx="14356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Towers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7132320" y="1005840"/>
            <a:ext cx="1508760" cy="1920240"/>
          </a:xfrm>
          <a:prstGeom prst="rect">
            <a:avLst/>
          </a:prstGeom>
          <a:solidFill>
            <a:srgbClr val="FAFAF7"/>
          </a:solidFill>
          <a:ln w="12700">
            <a:solidFill>
              <a:srgbClr val="7BAE7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7808" y="1115568"/>
            <a:ext cx="566928" cy="56692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168896" y="1737360"/>
            <a:ext cx="14356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Event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365760" y="3090672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Characteristics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365760" y="3429000"/>
            <a:ext cx="1133856" cy="1417320"/>
          </a:xfrm>
          <a:prstGeom prst="rect">
            <a:avLst/>
          </a:prstGeom>
          <a:solidFill>
            <a:srgbClr val="EDF3EC"/>
          </a:solidFill>
          <a:ln w="12700">
            <a:solidFill>
              <a:srgbClr val="7BAE7F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520440"/>
            <a:ext cx="566928" cy="56692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365760" y="4133088"/>
            <a:ext cx="1133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</a:t>
            </a:r>
            <a:endParaRPr lang="en-US" sz="1100" dirty="0"/>
          </a:p>
        </p:txBody>
      </p:sp>
      <p:sp>
        <p:nvSpPr>
          <p:cNvPr id="24" name="Shape 16"/>
          <p:cNvSpPr/>
          <p:nvPr/>
        </p:nvSpPr>
        <p:spPr>
          <a:xfrm>
            <a:off x="1627632" y="3429000"/>
            <a:ext cx="1133856" cy="1417320"/>
          </a:xfrm>
          <a:prstGeom prst="rect">
            <a:avLst/>
          </a:prstGeom>
          <a:solidFill>
            <a:srgbClr val="EDF3EC"/>
          </a:solidFill>
          <a:ln w="12700">
            <a:solidFill>
              <a:srgbClr val="7BAE7F"/>
            </a:solidFill>
            <a:prstDash val="solid"/>
          </a:ln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1952" y="3520440"/>
            <a:ext cx="566928" cy="56692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1627632" y="4133088"/>
            <a:ext cx="1133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</a:t>
            </a:r>
            <a:endParaRPr lang="en-US" sz="1100" dirty="0"/>
          </a:p>
        </p:txBody>
      </p:sp>
      <p:sp>
        <p:nvSpPr>
          <p:cNvPr id="27" name="Shape 18"/>
          <p:cNvSpPr/>
          <p:nvPr/>
        </p:nvSpPr>
        <p:spPr>
          <a:xfrm>
            <a:off x="2889504" y="3429000"/>
            <a:ext cx="1133856" cy="1417320"/>
          </a:xfrm>
          <a:prstGeom prst="rect">
            <a:avLst/>
          </a:prstGeom>
          <a:solidFill>
            <a:srgbClr val="EDF3EC"/>
          </a:solidFill>
          <a:ln w="12700">
            <a:solidFill>
              <a:srgbClr val="7BAE7F"/>
            </a:solidFill>
            <a:prstDash val="solid"/>
          </a:ln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63824" y="3520440"/>
            <a:ext cx="566928" cy="566928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2889504" y="4133088"/>
            <a:ext cx="1133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Adaptable</a:t>
            </a:r>
            <a:endParaRPr lang="en-US" sz="1100" dirty="0"/>
          </a:p>
        </p:txBody>
      </p:sp>
      <p:sp>
        <p:nvSpPr>
          <p:cNvPr id="30" name="Shape 20"/>
          <p:cNvSpPr/>
          <p:nvPr/>
        </p:nvSpPr>
        <p:spPr>
          <a:xfrm>
            <a:off x="4151376" y="3429000"/>
            <a:ext cx="1133856" cy="1417320"/>
          </a:xfrm>
          <a:prstGeom prst="rect">
            <a:avLst/>
          </a:prstGeom>
          <a:solidFill>
            <a:srgbClr val="EDF3EC"/>
          </a:solidFill>
          <a:ln w="12700">
            <a:solidFill>
              <a:srgbClr val="7BAE7F"/>
            </a:solidFill>
            <a:prstDash val="solid"/>
          </a:ln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25696" y="3520440"/>
            <a:ext cx="566928" cy="566928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4151376" y="4133088"/>
            <a:ext cx="1133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Assembly</a:t>
            </a:r>
            <a:endParaRPr lang="en-US" sz="1100" dirty="0"/>
          </a:p>
        </p:txBody>
      </p:sp>
      <p:sp>
        <p:nvSpPr>
          <p:cNvPr id="33" name="Shape 22"/>
          <p:cNvSpPr/>
          <p:nvPr/>
        </p:nvSpPr>
        <p:spPr>
          <a:xfrm>
            <a:off x="5303520" y="3364992"/>
            <a:ext cx="3474720" cy="1481328"/>
          </a:xfrm>
          <a:prstGeom prst="rect">
            <a:avLst/>
          </a:prstGeom>
          <a:solidFill>
            <a:srgbClr val="E8E8E2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34" name="Text 23"/>
          <p:cNvSpPr/>
          <p:nvPr/>
        </p:nvSpPr>
        <p:spPr>
          <a:xfrm>
            <a:off x="5303520" y="3941064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Image: Bamboo bridge / pavilion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D5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463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7BA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9659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Case Studies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Applications of Bamboo in Building Systems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Applications of Bamboo in Building Systems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case studies demonstrate how bamboo has evolved from a traditional construction material into a structural and architectural solution for contemporary buildings.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993392"/>
            <a:ext cx="4572000" cy="640080"/>
          </a:xfrm>
          <a:prstGeom prst="rect">
            <a:avLst/>
          </a:prstGeom>
          <a:solidFill>
            <a:srgbClr val="EDF3EC"/>
          </a:solidFill>
          <a:ln w="12700">
            <a:solidFill>
              <a:srgbClr val="7BAE7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011680"/>
            <a:ext cx="457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0116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School Bali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234086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BA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Indonesia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4572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7BAE7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761488"/>
            <a:ext cx="457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76148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Arc, Green School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309067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BA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Indonesia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493008"/>
            <a:ext cx="4572000" cy="640080"/>
          </a:xfrm>
          <a:prstGeom prst="rect">
            <a:avLst/>
          </a:prstGeom>
          <a:solidFill>
            <a:srgbClr val="EDF3EC"/>
          </a:solidFill>
          <a:ln w="12700">
            <a:solidFill>
              <a:srgbClr val="7BAE7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511296"/>
            <a:ext cx="457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351129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Panyaden Sports Hall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38404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BA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Thailand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4242816"/>
            <a:ext cx="4572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7BAE7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261104"/>
            <a:ext cx="457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426110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ZERI Pavilion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459028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BA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Colombia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212080" y="1005840"/>
            <a:ext cx="3566160" cy="3840480"/>
          </a:xfrm>
          <a:prstGeom prst="rect">
            <a:avLst/>
          </a:prstGeom>
          <a:solidFill>
            <a:srgbClr val="E8E8E2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5212080" y="2761488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Map: World map showing case study locations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1 – Green School Bali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BA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Bali, Indonesia · Educational Campus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029200" cy="3200400"/>
          </a:xfrm>
          <a:prstGeom prst="rect">
            <a:avLst/>
          </a:prstGeom>
          <a:solidFill>
            <a:srgbClr val="E8E8E2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365760" y="2441448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Case Study Photo: Green School Bali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23560" y="1005840"/>
            <a:ext cx="3154680" cy="457200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15000" y="10058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System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23560" y="150876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frames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 systems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wall systems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23560" y="2450592"/>
            <a:ext cx="3154680" cy="45720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15000" y="2450592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Bamboo?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2944368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Locally available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ventilation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4315968"/>
            <a:ext cx="8412480" cy="594360"/>
          </a:xfrm>
          <a:prstGeom prst="rect">
            <a:avLst/>
          </a:prstGeom>
          <a:solidFill>
            <a:srgbClr val="EDF3EC"/>
          </a:solidFill>
          <a:ln w="12700">
            <a:solidFill>
              <a:srgbClr val="7BAE7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334256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Lesson: Bamboo can serve as the primary structural material for permanent educational buildings while responding effectively to a tropical climate.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2 – The Arc, Green School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BA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Bali, Indonesia · Gymnasium / Multi-purpose Learning Space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029200" cy="3200400"/>
          </a:xfrm>
          <a:prstGeom prst="rect">
            <a:avLst/>
          </a:prstGeom>
          <a:solidFill>
            <a:srgbClr val="E8E8E2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365760" y="2441448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Case Study Photo: The Arc, Green School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23560" y="1005840"/>
            <a:ext cx="3154680" cy="457200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15000" y="10058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System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23560" y="150876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Long-span roof structure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Curved bamboo arches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frame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23560" y="2450592"/>
            <a:ext cx="3154680" cy="45720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15000" y="2450592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2944368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column-free interior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curved geometry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structural detailing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4315968"/>
            <a:ext cx="8412480" cy="594360"/>
          </a:xfrm>
          <a:prstGeom prst="rect">
            <a:avLst/>
          </a:prstGeom>
          <a:solidFill>
            <a:srgbClr val="EDF3EC"/>
          </a:solidFill>
          <a:ln w="12700">
            <a:solidFill>
              <a:srgbClr val="7BAE7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334256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Lesson: Bamboo can achieve spans and forms traditionally associated with steel or laminated timber.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3 – Panyaden International School Sports Hall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BA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Chiang Mai, Thailand · Sports Hall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029200" cy="3200400"/>
          </a:xfrm>
          <a:prstGeom prst="rect">
            <a:avLst/>
          </a:prstGeom>
          <a:solidFill>
            <a:srgbClr val="E8E8E2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365760" y="2441448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Case Study Photo: Panyaden Sports Hall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23560" y="1005840"/>
            <a:ext cx="3154680" cy="457200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15000" y="10058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System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23560" y="150876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 trusses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frame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23560" y="2221992"/>
            <a:ext cx="3154680" cy="45720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15000" y="2221992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Bamboo?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2715768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material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Large-span capability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Naturally ventilated space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4315968"/>
            <a:ext cx="8412480" cy="594360"/>
          </a:xfrm>
          <a:prstGeom prst="rect">
            <a:avLst/>
          </a:prstGeom>
          <a:solidFill>
            <a:srgbClr val="EDF3EC"/>
          </a:solidFill>
          <a:ln w="12700">
            <a:solidFill>
              <a:srgbClr val="7BAE7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334256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Lesson: Bamboo can successfully perform as the primary roof structure in large public buildings.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4 – ZERI Pavilion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BA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Colombia · Exhibition Pavilion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029200" cy="3200400"/>
          </a:xfrm>
          <a:prstGeom prst="rect">
            <a:avLst/>
          </a:prstGeom>
          <a:solidFill>
            <a:srgbClr val="E8E8E2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365760" y="2441448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Case Study Photo: ZERI Pavilion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23560" y="1005840"/>
            <a:ext cx="3154680" cy="457200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15000" y="10058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System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23560" y="150876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frame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 system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23560" y="2221992"/>
            <a:ext cx="3154680" cy="45720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15000" y="2221992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2715768"/>
            <a:ext cx="3154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bamboo in modern exhibition architecture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structural detailing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Prefabricated components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4315968"/>
            <a:ext cx="8412480" cy="594360"/>
          </a:xfrm>
          <a:prstGeom prst="rect">
            <a:avLst/>
          </a:prstGeom>
          <a:solidFill>
            <a:srgbClr val="EDF3EC"/>
          </a:solidFill>
          <a:ln w="12700">
            <a:solidFill>
              <a:srgbClr val="7BAE7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334256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Lesson: Innovation lies not only in the material but also in design, detailing, and construction techniques.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 of Case Studies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2194560" cy="411480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87552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606040" y="987552"/>
            <a:ext cx="2560320" cy="411480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51760" y="98755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System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212080" y="987552"/>
            <a:ext cx="3657600" cy="411480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57800" y="98755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Lesson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444752"/>
            <a:ext cx="2194560" cy="475488"/>
          </a:xfrm>
          <a:prstGeom prst="rect">
            <a:avLst/>
          </a:prstGeom>
          <a:solidFill>
            <a:srgbClr val="FAFAF7"/>
          </a:solidFill>
          <a:ln w="12700">
            <a:solidFill>
              <a:srgbClr val="E8E8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1463040"/>
            <a:ext cx="20848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School Bali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06040" y="1444752"/>
            <a:ext cx="2560320" cy="475488"/>
          </a:xfrm>
          <a:prstGeom prst="rect">
            <a:avLst/>
          </a:prstGeom>
          <a:solidFill>
            <a:srgbClr val="FAFAF7"/>
          </a:solidFill>
          <a:ln w="12700">
            <a:solidFill>
              <a:srgbClr val="E8E8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60904" y="1463040"/>
            <a:ext cx="24505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frame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212080" y="1444752"/>
            <a:ext cx="3657600" cy="475488"/>
          </a:xfrm>
          <a:prstGeom prst="rect">
            <a:avLst/>
          </a:prstGeom>
          <a:solidFill>
            <a:srgbClr val="FAFAF7"/>
          </a:solidFill>
          <a:ln w="12700">
            <a:solidFill>
              <a:srgbClr val="E8E8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66944" y="1463040"/>
            <a:ext cx="35478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educational buildings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1920240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" y="1938528"/>
            <a:ext cx="20848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606040" y="19202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60904" y="1938528"/>
            <a:ext cx="24505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Long-span roof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212080" y="1920240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66944" y="1938528"/>
            <a:ext cx="35478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structural forms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2395728"/>
            <a:ext cx="2194560" cy="475488"/>
          </a:xfrm>
          <a:prstGeom prst="rect">
            <a:avLst/>
          </a:prstGeom>
          <a:solidFill>
            <a:srgbClr val="FAFAF7"/>
          </a:solidFill>
          <a:ln w="12700">
            <a:solidFill>
              <a:srgbClr val="E8E8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0624" y="2414016"/>
            <a:ext cx="20848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Panyaden Hall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606040" y="2395728"/>
            <a:ext cx="2560320" cy="475488"/>
          </a:xfrm>
          <a:prstGeom prst="rect">
            <a:avLst/>
          </a:prstGeom>
          <a:solidFill>
            <a:srgbClr val="FAFAF7"/>
          </a:solidFill>
          <a:ln w="12700">
            <a:solidFill>
              <a:srgbClr val="E8E8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60904" y="2414016"/>
            <a:ext cx="24505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 trusses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212080" y="2395728"/>
            <a:ext cx="3657600" cy="475488"/>
          </a:xfrm>
          <a:prstGeom prst="rect">
            <a:avLst/>
          </a:prstGeom>
          <a:solidFill>
            <a:srgbClr val="FAFAF7"/>
          </a:solidFill>
          <a:ln w="12700">
            <a:solidFill>
              <a:srgbClr val="E8E8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66944" y="2414016"/>
            <a:ext cx="35478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Large-span public buildings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2871216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2889504"/>
            <a:ext cx="20848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ZERI Pavilion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606040" y="28712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60904" y="2889504"/>
            <a:ext cx="24505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&amp; roof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212080" y="2871216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66944" y="2889504"/>
            <a:ext cx="35478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detailing &amp; prefabrication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5760" y="3429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Findings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65760" y="3730752"/>
            <a:ext cx="841248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Bamboo performs best when properly treated.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design is critical to structural performance.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Climate-responsive design improves durability.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Bamboo is suitable for both structural and non-structural systems.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D5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463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7BA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9659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from International Practice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Construction, Durability, and Sustainability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Lessons from International Practice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77640" cy="384048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89888"/>
            <a:ext cx="3977640" cy="1481328"/>
          </a:xfrm>
          <a:prstGeom prst="rect">
            <a:avLst/>
          </a:prstGeom>
          <a:solidFill>
            <a:srgbClr val="FAFAF7"/>
          </a:solidFill>
          <a:ln w="12700">
            <a:solidFill>
              <a:srgbClr val="E8E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81328"/>
            <a:ext cx="379476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from project inception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Material-led architecture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3977640" cy="38404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00584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389888"/>
            <a:ext cx="3977640" cy="1481328"/>
          </a:xfrm>
          <a:prstGeom prst="rect">
            <a:avLst/>
          </a:prstGeom>
          <a:solidFill>
            <a:srgbClr val="FAFAF7"/>
          </a:solidFill>
          <a:ln w="12700">
            <a:solidFill>
              <a:srgbClr val="E8E8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481328"/>
            <a:ext cx="379476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Skilled craftsmanship required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joinery critical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" y="3017520"/>
            <a:ext cx="3977640" cy="384048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01752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Durability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401568"/>
            <a:ext cx="3977640" cy="1481328"/>
          </a:xfrm>
          <a:prstGeom prst="rect">
            <a:avLst/>
          </a:prstGeom>
          <a:solidFill>
            <a:srgbClr val="FAFAF7"/>
          </a:solidFill>
          <a:ln w="12700">
            <a:solidFill>
              <a:srgbClr val="E8E8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93008"/>
            <a:ext cx="379476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treatment essential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 protection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foundations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663440" y="3017520"/>
            <a:ext cx="3977640" cy="384048"/>
          </a:xfrm>
          <a:prstGeom prst="rect">
            <a:avLst/>
          </a:prstGeom>
          <a:solidFill>
            <a:srgbClr val="7BAE7F"/>
          </a:solidFill>
          <a:ln w="12700">
            <a:solidFill>
              <a:srgbClr val="7BAE7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301752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3401568"/>
            <a:ext cx="3977640" cy="1481328"/>
          </a:xfrm>
          <a:prstGeom prst="rect">
            <a:avLst/>
          </a:prstGeom>
          <a:solidFill>
            <a:srgbClr val="FAFAF7"/>
          </a:solidFill>
          <a:ln w="12700">
            <a:solidFill>
              <a:srgbClr val="E8E8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3493008"/>
            <a:ext cx="379476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sourcing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resource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embodied carbon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Factors in International Bamboo Projects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331720" cy="1920240"/>
          </a:xfrm>
          <a:prstGeom prst="oval">
            <a:avLst/>
          </a:prstGeom>
          <a:solidFill>
            <a:srgbClr val="EDF3EC"/>
          </a:solidFill>
          <a:ln w="19050">
            <a:solidFill>
              <a:srgbClr val="7BAE7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28016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96596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246120" y="1051560"/>
            <a:ext cx="2331720" cy="1920240"/>
          </a:xfrm>
          <a:prstGeom prst="oval">
            <a:avLst/>
          </a:prstGeom>
          <a:solidFill>
            <a:srgbClr val="EDF3EC"/>
          </a:solidFill>
          <a:ln w="19050">
            <a:solidFill>
              <a:srgbClr val="7BAE7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280160"/>
            <a:ext cx="594360" cy="5943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46120" y="196596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Detailing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035040" y="1051560"/>
            <a:ext cx="2331720" cy="1920240"/>
          </a:xfrm>
          <a:prstGeom prst="oval">
            <a:avLst/>
          </a:prstGeom>
          <a:solidFill>
            <a:srgbClr val="EDF3EC"/>
          </a:solidFill>
          <a:ln w="19050">
            <a:solidFill>
              <a:srgbClr val="7BAE7F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280160"/>
            <a:ext cx="594360" cy="5943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35040" y="196596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Appropriate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Jointing Systems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457200" y="2788920"/>
            <a:ext cx="2331720" cy="1920240"/>
          </a:xfrm>
          <a:prstGeom prst="oval">
            <a:avLst/>
          </a:prstGeom>
          <a:solidFill>
            <a:srgbClr val="EDF3EC"/>
          </a:solidFill>
          <a:ln w="19050">
            <a:solidFill>
              <a:srgbClr val="7BAE7F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3017520"/>
            <a:ext cx="594360" cy="5943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57200" y="37033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3246120" y="2788920"/>
            <a:ext cx="2331720" cy="1920240"/>
          </a:xfrm>
          <a:prstGeom prst="oval">
            <a:avLst/>
          </a:prstGeom>
          <a:solidFill>
            <a:srgbClr val="EDF3EC"/>
          </a:solidFill>
          <a:ln w="19050">
            <a:solidFill>
              <a:srgbClr val="7BAE7F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0" y="3017520"/>
            <a:ext cx="594360" cy="59436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246120" y="37033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Labour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6035040" y="2788920"/>
            <a:ext cx="2331720" cy="1920240"/>
          </a:xfrm>
          <a:prstGeom prst="oval">
            <a:avLst/>
          </a:prstGeom>
          <a:solidFill>
            <a:srgbClr val="EDF3EC"/>
          </a:solidFill>
          <a:ln w="19050">
            <a:solidFill>
              <a:srgbClr val="7BAE7F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3720" y="3017520"/>
            <a:ext cx="594360" cy="59436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035040" y="37033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Observed Internationally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77640" cy="1828800"/>
          </a:xfrm>
          <a:prstGeom prst="rect">
            <a:avLst/>
          </a:prstGeom>
          <a:solidFill>
            <a:srgbClr val="FAFAF7"/>
          </a:solidFill>
          <a:ln w="12700">
            <a:solidFill>
              <a:srgbClr val="4A7C59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75488" y="1078992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389888"/>
            <a:ext cx="3794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Durability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performance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 sensitivity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Insect attack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3977640" cy="1828800"/>
          </a:xfrm>
          <a:prstGeom prst="rect">
            <a:avLst/>
          </a:prstGeom>
          <a:solidFill>
            <a:srgbClr val="FAFAF7"/>
          </a:solidFill>
          <a:ln w="12700">
            <a:solidFill>
              <a:srgbClr val="8B6914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73168" y="1078992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1389888"/>
            <a:ext cx="3794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Skilled labour requirements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costs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3017520"/>
            <a:ext cx="3977640" cy="1691640"/>
          </a:xfrm>
          <a:prstGeom prst="rect">
            <a:avLst/>
          </a:prstGeom>
          <a:solidFill>
            <a:srgbClr val="FAFAF7"/>
          </a:solidFill>
          <a:ln w="12700">
            <a:solidFill>
              <a:srgbClr val="2D501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" y="3090672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401568"/>
            <a:ext cx="37947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building standards in some countries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3017520"/>
            <a:ext cx="3977640" cy="1691640"/>
          </a:xfrm>
          <a:prstGeom prst="rect">
            <a:avLst/>
          </a:prstGeom>
          <a:solidFill>
            <a:srgbClr val="FAFAF7"/>
          </a:solidFill>
          <a:ln w="12700">
            <a:solidFill>
              <a:srgbClr val="7BAE7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73168" y="3090672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BA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3401568"/>
            <a:ext cx="37947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perception barriers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4462272"/>
            <a:ext cx="8412480" cy="457200"/>
          </a:xfrm>
          <a:prstGeom prst="rect">
            <a:avLst/>
          </a:prstGeom>
          <a:solidFill>
            <a:srgbClr val="EDF3EC"/>
          </a:solidFill>
          <a:ln w="12700">
            <a:solidFill>
              <a:srgbClr val="7BAE7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48056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these challenges, successful projects show they can be addressed through design, treatment, and appropriate construction practices.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D5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Implications for Nigeria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8138160" cy="1234440"/>
          </a:xfrm>
          <a:prstGeom prst="rect">
            <a:avLst/>
          </a:prstGeom>
          <a:solidFill>
            <a:srgbClr val="1E3B0A"/>
          </a:solidFill>
          <a:ln w="12700">
            <a:solidFill>
              <a:srgbClr val="7BAE7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98448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international experience suggests that bamboo can function successfully in diverse building systems when supported by appropriate design, treatment, standards, and construction practices.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94360" y="274320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315468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these lessons be adapted to the Nigerian context?</a:t>
            </a:r>
            <a:endParaRPr lang="en-US" sz="2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023360"/>
            <a:ext cx="594360" cy="594360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4023360"/>
            <a:ext cx="59436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 of Bamboo in Nigeria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1463040"/>
          </a:xfrm>
          <a:prstGeom prst="rect">
            <a:avLst/>
          </a:prstGeom>
          <a:solidFill>
            <a:srgbClr val="FAFAF7"/>
          </a:solidFill>
          <a:ln w="12700">
            <a:solidFill>
              <a:srgbClr val="4A7C59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75488" y="1078992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389888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in Southern Nigeria and parts of the Middle Belt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Naturally occurring and cultivated species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2606040"/>
            <a:ext cx="4114800" cy="2240280"/>
          </a:xfrm>
          <a:prstGeom prst="rect">
            <a:avLst/>
          </a:prstGeom>
          <a:solidFill>
            <a:srgbClr val="FAFAF7"/>
          </a:solidFill>
          <a:ln w="12700">
            <a:solidFill>
              <a:srgbClr val="8B6914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" y="2679192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Uses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990088"/>
            <a:ext cx="39319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Scaffolding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Fencing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housing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structures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and crafts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4023360" cy="3840480"/>
          </a:xfrm>
          <a:prstGeom prst="rect">
            <a:avLst/>
          </a:prstGeom>
          <a:solidFill>
            <a:srgbClr val="E8E8E2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4754880" y="2761488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Map: Major bamboo-producing regions in Nigeria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Has Bamboo Remained Underutilized in Nigeria?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77640" cy="1810512"/>
          </a:xfrm>
          <a:prstGeom prst="rect">
            <a:avLst/>
          </a:prstGeom>
          <a:solidFill>
            <a:srgbClr val="FAFAF7"/>
          </a:solidFill>
          <a:ln w="12700">
            <a:solidFill>
              <a:srgbClr val="7BAE7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09728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11556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1755648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preservation &amp; treatment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Durability concerns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663440" y="1005840"/>
            <a:ext cx="3977640" cy="1810512"/>
          </a:xfrm>
          <a:prstGeom prst="rect">
            <a:avLst/>
          </a:prstGeom>
          <a:solidFill>
            <a:srgbClr val="FAFAF7"/>
          </a:solidFill>
          <a:ln w="12700">
            <a:solidFill>
              <a:srgbClr val="7BAE7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1097280"/>
            <a:ext cx="594360" cy="5943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40680" y="111556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800600" y="1755648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processing facilities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standardization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65760" y="3017520"/>
            <a:ext cx="3977640" cy="1810512"/>
          </a:xfrm>
          <a:prstGeom prst="rect">
            <a:avLst/>
          </a:prstGeom>
          <a:solidFill>
            <a:srgbClr val="FAFAF7"/>
          </a:solidFill>
          <a:ln w="12700">
            <a:solidFill>
              <a:srgbClr val="7BAE7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3108960"/>
            <a:ext cx="594360" cy="5943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312724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02920" y="3767328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design standards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inclusion in building codes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663440" y="3017520"/>
            <a:ext cx="3977640" cy="1810512"/>
          </a:xfrm>
          <a:prstGeom prst="rect">
            <a:avLst/>
          </a:prstGeom>
          <a:solidFill>
            <a:srgbClr val="FAFAF7"/>
          </a:solidFill>
          <a:ln w="12700">
            <a:solidFill>
              <a:srgbClr val="7BAE7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3108960"/>
            <a:ext cx="594360" cy="5943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40680" y="312724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4800600" y="3767328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Viewed as 'poor man's material'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confidence for permanent buildings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for Modern Bamboo Construction in Nigeria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77640" cy="1115568"/>
          </a:xfrm>
          <a:prstGeom prst="rect">
            <a:avLst/>
          </a:prstGeom>
          <a:solidFill>
            <a:srgbClr val="FAFAF7"/>
          </a:solidFill>
          <a:ln w="12700">
            <a:solidFill>
              <a:srgbClr val="7BAE7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8016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280160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demand for affordable housing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663440" y="1005840"/>
            <a:ext cx="3977640" cy="1115568"/>
          </a:xfrm>
          <a:prstGeom prst="rect">
            <a:avLst/>
          </a:prstGeom>
          <a:solidFill>
            <a:srgbClr val="FAFAF7"/>
          </a:solidFill>
          <a:ln w="12700">
            <a:solidFill>
              <a:srgbClr val="7BAE7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280160"/>
            <a:ext cx="54864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68112" y="1280160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interest in sustainable construction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365760" y="2304288"/>
            <a:ext cx="3977640" cy="1115568"/>
          </a:xfrm>
          <a:prstGeom prst="rect">
            <a:avLst/>
          </a:prstGeom>
          <a:solidFill>
            <a:srgbClr val="FAFAF7"/>
          </a:solidFill>
          <a:ln w="12700">
            <a:solidFill>
              <a:srgbClr val="7BAE7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578608"/>
            <a:ext cx="548640" cy="5486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70432" y="2578608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of local bamboo resources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4663440" y="2304288"/>
            <a:ext cx="3977640" cy="1115568"/>
          </a:xfrm>
          <a:prstGeom prst="rect">
            <a:avLst/>
          </a:prstGeom>
          <a:solidFill>
            <a:srgbClr val="FAFAF7"/>
          </a:solidFill>
          <a:ln w="12700">
            <a:solidFill>
              <a:srgbClr val="7BAE7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578608"/>
            <a:ext cx="548640" cy="5486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468112" y="2578608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for rural development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365760" y="3602736"/>
            <a:ext cx="3977640" cy="1115568"/>
          </a:xfrm>
          <a:prstGeom prst="rect">
            <a:avLst/>
          </a:prstGeom>
          <a:solidFill>
            <a:srgbClr val="FAFAF7"/>
          </a:solidFill>
          <a:ln w="12700">
            <a:solidFill>
              <a:srgbClr val="7BAE7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877056"/>
            <a:ext cx="548640" cy="54864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70432" y="3877056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embodied carbon advantage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4663440" y="3602736"/>
            <a:ext cx="3977640" cy="1115568"/>
          </a:xfrm>
          <a:prstGeom prst="rect">
            <a:avLst/>
          </a:prstGeom>
          <a:solidFill>
            <a:srgbClr val="FAFAF7"/>
          </a:solidFill>
          <a:ln w="12700">
            <a:solidFill>
              <a:srgbClr val="7BAE7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3877056"/>
            <a:ext cx="548640" cy="54864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468112" y="3877056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&amp; value-chain opportunities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Areas for Adoption in Nigeria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31920" cy="3840480"/>
          </a:xfrm>
          <a:prstGeom prst="rect">
            <a:avLst/>
          </a:prstGeom>
          <a:solidFill>
            <a:srgbClr val="E8E8E2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365760" y="276148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Map: Nigeria ecological zones / bamboo distribution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26280" y="1005840"/>
            <a:ext cx="1691640" cy="347472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26280" y="100584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36208" y="1005840"/>
            <a:ext cx="1691640" cy="347472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36208" y="100584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26280" y="1389888"/>
            <a:ext cx="1691640" cy="512064"/>
          </a:xfrm>
          <a:prstGeom prst="rect">
            <a:avLst/>
          </a:prstGeom>
          <a:solidFill>
            <a:srgbClr val="EDF3EC"/>
          </a:solidFill>
          <a:ln w="12700">
            <a:solidFill>
              <a:srgbClr val="E8E8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389888"/>
            <a:ext cx="1600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West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36208" y="1389888"/>
            <a:ext cx="1691640" cy="512064"/>
          </a:xfrm>
          <a:prstGeom prst="rect">
            <a:avLst/>
          </a:prstGeom>
          <a:solidFill>
            <a:srgbClr val="EDF3EC"/>
          </a:solidFill>
          <a:ln w="12700">
            <a:solidFill>
              <a:srgbClr val="E8E8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81928" y="1389888"/>
            <a:ext cx="1600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26280" y="1938528"/>
            <a:ext cx="16916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1938528"/>
            <a:ext cx="1600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East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36208" y="1938528"/>
            <a:ext cx="16916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81928" y="1938528"/>
            <a:ext cx="1600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26280" y="2487168"/>
            <a:ext cx="1691640" cy="512064"/>
          </a:xfrm>
          <a:prstGeom prst="rect">
            <a:avLst/>
          </a:prstGeom>
          <a:solidFill>
            <a:srgbClr val="EDF3EC"/>
          </a:solidFill>
          <a:ln w="12700">
            <a:solidFill>
              <a:srgbClr val="E8E8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2487168"/>
            <a:ext cx="1600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South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36208" y="2487168"/>
            <a:ext cx="1691640" cy="512064"/>
          </a:xfrm>
          <a:prstGeom prst="rect">
            <a:avLst/>
          </a:prstGeom>
          <a:solidFill>
            <a:srgbClr val="EDF3EC"/>
          </a:solidFill>
          <a:ln w="12700">
            <a:solidFill>
              <a:srgbClr val="E8E8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81928" y="2487168"/>
            <a:ext cx="1600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26280" y="3035808"/>
            <a:ext cx="16916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3035808"/>
            <a:ext cx="1600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Central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36208" y="3035808"/>
            <a:ext cx="16916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81928" y="3035808"/>
            <a:ext cx="1600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26280" y="3584448"/>
            <a:ext cx="1691640" cy="512064"/>
          </a:xfrm>
          <a:prstGeom prst="rect">
            <a:avLst/>
          </a:prstGeom>
          <a:solidFill>
            <a:srgbClr val="EDF3EC"/>
          </a:solidFill>
          <a:ln w="12700">
            <a:solidFill>
              <a:srgbClr val="E8E8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3584448"/>
            <a:ext cx="1600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North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36208" y="3584448"/>
            <a:ext cx="1691640" cy="512064"/>
          </a:xfrm>
          <a:prstGeom prst="rect">
            <a:avLst/>
          </a:prstGeom>
          <a:solidFill>
            <a:srgbClr val="EDF3EC"/>
          </a:solidFill>
          <a:ln w="12700">
            <a:solidFill>
              <a:srgbClr val="E8E8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81928" y="3584448"/>
            <a:ext cx="1600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26280" y="422452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Building Types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26280" y="4526280"/>
            <a:ext cx="4251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· Community Centres · Eco-lodges · Markets · Pavilions · Low-rise Housing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2D5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463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7BA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9659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Prospects for Adaptation in Nigeria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International Lessons to the Local Context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Adapting Bamboo to Nigerian Building Systems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06040" cy="1810512"/>
          </a:xfrm>
          <a:prstGeom prst="rect">
            <a:avLst/>
          </a:prstGeom>
          <a:solidFill>
            <a:srgbClr val="FAFAF7"/>
          </a:solidFill>
          <a:ln w="12700">
            <a:solidFill>
              <a:srgbClr val="7BAE7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3312" y="1234440"/>
            <a:ext cx="621792" cy="6217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965960"/>
            <a:ext cx="2606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 Structures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200400" y="1005840"/>
            <a:ext cx="2606040" cy="1810512"/>
          </a:xfrm>
          <a:prstGeom prst="rect">
            <a:avLst/>
          </a:prstGeom>
          <a:solidFill>
            <a:srgbClr val="FAFAF7"/>
          </a:solidFill>
          <a:ln w="12700">
            <a:solidFill>
              <a:srgbClr val="7BAE7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7952" y="1234440"/>
            <a:ext cx="621792" cy="6217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00400" y="1965960"/>
            <a:ext cx="2606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Frames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(Low-rise)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035040" y="1005840"/>
            <a:ext cx="2606040" cy="1810512"/>
          </a:xfrm>
          <a:prstGeom prst="rect">
            <a:avLst/>
          </a:prstGeom>
          <a:solidFill>
            <a:srgbClr val="FAFAF7"/>
          </a:solidFill>
          <a:ln w="12700">
            <a:solidFill>
              <a:srgbClr val="7BAE7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2" y="1234440"/>
            <a:ext cx="621792" cy="62179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35040" y="1965960"/>
            <a:ext cx="2606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Panels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Screens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365760" y="3017520"/>
            <a:ext cx="2606040" cy="1810512"/>
          </a:xfrm>
          <a:prstGeom prst="rect">
            <a:avLst/>
          </a:prstGeom>
          <a:solidFill>
            <a:srgbClr val="FAFAF7"/>
          </a:solidFill>
          <a:ln w="12700">
            <a:solidFill>
              <a:srgbClr val="7BAE7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3312" y="3246120"/>
            <a:ext cx="621792" cy="62179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65760" y="3977640"/>
            <a:ext cx="2606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Shading Devices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3200400" y="3017520"/>
            <a:ext cx="2606040" cy="1810512"/>
          </a:xfrm>
          <a:prstGeom prst="rect">
            <a:avLst/>
          </a:prstGeom>
          <a:solidFill>
            <a:srgbClr val="FAFAF7"/>
          </a:solidFill>
          <a:ln w="12700">
            <a:solidFill>
              <a:srgbClr val="7BAE7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7952" y="3246120"/>
            <a:ext cx="621792" cy="62179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200400" y="3977640"/>
            <a:ext cx="2606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Walkways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Pedestrian Bridges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6035040" y="3017520"/>
            <a:ext cx="2606040" cy="1810512"/>
          </a:xfrm>
          <a:prstGeom prst="rect">
            <a:avLst/>
          </a:prstGeom>
          <a:solidFill>
            <a:srgbClr val="FAFAF7"/>
          </a:solidFill>
          <a:ln w="12700">
            <a:solidFill>
              <a:srgbClr val="7BAE7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2592" y="3246120"/>
            <a:ext cx="621792" cy="62179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035040" y="3977640"/>
            <a:ext cx="2606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Structures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8778240" y="1005840"/>
            <a:ext cx="0" cy="0"/>
          </a:xfrm>
          <a:prstGeom prst="rect">
            <a:avLst/>
          </a:prstGeom>
          <a:solidFill>
            <a:srgbClr val="E8E8E2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23" name="Text 15"/>
          <p:cNvSpPr/>
          <p:nvPr/>
        </p:nvSpPr>
        <p:spPr>
          <a:xfrm>
            <a:off x="8778240" y="841248"/>
            <a:ext cx="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Image: Nigerian bamboo application example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for Successful Adoption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1554480" cy="3017520"/>
          </a:xfrm>
          <a:prstGeom prst="rect">
            <a:avLst/>
          </a:prstGeom>
          <a:solidFill>
            <a:srgbClr val="FAFAF7"/>
          </a:solidFill>
          <a:ln w="12700">
            <a:solidFill>
              <a:srgbClr val="4A7C59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1554480" cy="347472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972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536192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2212848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Preservation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892808" y="2606040"/>
            <a:ext cx="128016" cy="0"/>
          </a:xfrm>
          <a:prstGeom prst="line">
            <a:avLst/>
          </a:prstGeom>
          <a:noFill/>
          <a:ln w="25400">
            <a:solidFill>
              <a:srgbClr val="7BAE7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057400" y="1097280"/>
            <a:ext cx="1554480" cy="3017520"/>
          </a:xfrm>
          <a:prstGeom prst="rect">
            <a:avLst/>
          </a:prstGeom>
          <a:solidFill>
            <a:srgbClr val="FAFAF7"/>
          </a:solidFill>
          <a:ln w="12700">
            <a:solidFill>
              <a:srgbClr val="8B6914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057400" y="1097280"/>
            <a:ext cx="1554480" cy="347472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057400" y="10972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2888" y="1536192"/>
            <a:ext cx="594360" cy="5943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103120" y="2212848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630168" y="2606040"/>
            <a:ext cx="128016" cy="0"/>
          </a:xfrm>
          <a:prstGeom prst="line">
            <a:avLst/>
          </a:prstGeom>
          <a:noFill/>
          <a:ln w="25400">
            <a:solidFill>
              <a:srgbClr val="7BAE7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794760" y="1097280"/>
            <a:ext cx="1554480" cy="3017520"/>
          </a:xfrm>
          <a:prstGeom prst="rect">
            <a:avLst/>
          </a:prstGeom>
          <a:solidFill>
            <a:srgbClr val="FAFAF7"/>
          </a:solidFill>
          <a:ln w="12700">
            <a:solidFill>
              <a:srgbClr val="2D501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794760" y="1097280"/>
            <a:ext cx="1554480" cy="347472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794760" y="10972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248" y="1536192"/>
            <a:ext cx="594360" cy="5943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840480" y="2212848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367528" y="2606040"/>
            <a:ext cx="128016" cy="0"/>
          </a:xfrm>
          <a:prstGeom prst="line">
            <a:avLst/>
          </a:prstGeom>
          <a:noFill/>
          <a:ln w="25400">
            <a:solidFill>
              <a:srgbClr val="7BAE7F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532120" y="1097280"/>
            <a:ext cx="1554480" cy="3017520"/>
          </a:xfrm>
          <a:prstGeom prst="rect">
            <a:avLst/>
          </a:prstGeom>
          <a:solidFill>
            <a:srgbClr val="FAFAF7"/>
          </a:solidFill>
          <a:ln w="12700">
            <a:solidFill>
              <a:srgbClr val="4A7C59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532120" y="1097280"/>
            <a:ext cx="1554480" cy="347472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532120" y="10972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608" y="1536192"/>
            <a:ext cx="594360" cy="5943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577840" y="2212848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Regulations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7104888" y="2606040"/>
            <a:ext cx="128016" cy="0"/>
          </a:xfrm>
          <a:prstGeom prst="line">
            <a:avLst/>
          </a:prstGeom>
          <a:noFill/>
          <a:ln w="25400">
            <a:solidFill>
              <a:srgbClr val="7BAE7F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7269480" y="1097280"/>
            <a:ext cx="1554480" cy="3017520"/>
          </a:xfrm>
          <a:prstGeom prst="rect">
            <a:avLst/>
          </a:prstGeom>
          <a:solidFill>
            <a:srgbClr val="FAFAF7"/>
          </a:solidFill>
          <a:ln w="12700">
            <a:solidFill>
              <a:srgbClr val="8B6914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269480" y="1097280"/>
            <a:ext cx="1554480" cy="347472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7269480" y="10972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4968" y="1536192"/>
            <a:ext cx="594360" cy="59436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315200" y="2212848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365760" y="42793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requirement is interdependent — a coordinated approach is essential.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for Bamboo Adoption in Nigeria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493776"/>
          </a:xfrm>
          <a:prstGeom prst="rect">
            <a:avLst/>
          </a:prstGeom>
          <a:solidFill>
            <a:srgbClr val="7BAE7F"/>
          </a:solidFill>
          <a:ln w="12700">
            <a:solidFill>
              <a:srgbClr val="7BAE7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3931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Bamboo Resources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423160" y="1499616"/>
            <a:ext cx="0" cy="91440"/>
          </a:xfrm>
          <a:prstGeom prst="line">
            <a:avLst/>
          </a:prstGeom>
          <a:noFill/>
          <a:ln w="19050">
            <a:solidFill>
              <a:srgbClr val="7BAE7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0624" y="1591056"/>
            <a:ext cx="4005072" cy="493776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591056"/>
            <a:ext cx="382219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Treatment &amp; Preservation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423160" y="2084832"/>
            <a:ext cx="0" cy="91440"/>
          </a:xfrm>
          <a:prstGeom prst="line">
            <a:avLst/>
          </a:prstGeom>
          <a:noFill/>
          <a:ln w="19050">
            <a:solidFill>
              <a:srgbClr val="7BAE7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" y="2176272"/>
            <a:ext cx="3895344" cy="493776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176272"/>
            <a:ext cx="371246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 &amp; Quality Control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423160" y="2670048"/>
            <a:ext cx="0" cy="91440"/>
          </a:xfrm>
          <a:prstGeom prst="line">
            <a:avLst/>
          </a:prstGeom>
          <a:noFill/>
          <a:ln w="19050">
            <a:solidFill>
              <a:srgbClr val="7BAE7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2761488"/>
            <a:ext cx="3785616" cy="493776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761488"/>
            <a:ext cx="360273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Projects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423160" y="3255264"/>
            <a:ext cx="0" cy="91440"/>
          </a:xfrm>
          <a:prstGeom prst="line">
            <a:avLst/>
          </a:prstGeom>
          <a:noFill/>
          <a:ln w="19050">
            <a:solidFill>
              <a:srgbClr val="7BAE7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5216" y="3346704"/>
            <a:ext cx="3675888" cy="493776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" y="3346704"/>
            <a:ext cx="34930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Training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423160" y="3840480"/>
            <a:ext cx="0" cy="91440"/>
          </a:xfrm>
          <a:prstGeom prst="line">
            <a:avLst/>
          </a:prstGeom>
          <a:noFill/>
          <a:ln w="19050">
            <a:solidFill>
              <a:srgbClr val="7BAE7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931920"/>
            <a:ext cx="3566160" cy="493776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931920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Code Development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2423160" y="4425696"/>
            <a:ext cx="0" cy="91440"/>
          </a:xfrm>
          <a:prstGeom prst="line">
            <a:avLst/>
          </a:prstGeom>
          <a:noFill/>
          <a:ln w="19050">
            <a:solidFill>
              <a:srgbClr val="7BAE7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4944" y="4517136"/>
            <a:ext cx="3456432" cy="493776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" y="4517136"/>
            <a:ext cx="327355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Industry Adoption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663440" y="35661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Intended Outcome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63440" y="388620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Technically sound bamboo building practice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capacity and standardized products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acceptance and professional adoption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63440" y="1005840"/>
            <a:ext cx="4114800" cy="2423160"/>
          </a:xfrm>
          <a:prstGeom prst="rect">
            <a:avLst/>
          </a:prstGeom>
          <a:solidFill>
            <a:srgbClr val="E8E8E2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4663440" y="2052828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Diagram: Framework flow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Bamboo Matters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2606040" cy="475488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024128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41832" y="98755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" y="1481328"/>
            <a:ext cx="2606040" cy="3364992"/>
          </a:xfrm>
          <a:prstGeom prst="rect">
            <a:avLst/>
          </a:prstGeom>
          <a:solidFill>
            <a:srgbClr val="FAFAF7"/>
          </a:solidFill>
          <a:ln w="12700">
            <a:solidFill>
              <a:srgbClr val="E8E8E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02920" y="1664208"/>
            <a:ext cx="2331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resource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carbon footprint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Fast-growing plant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00400" y="987552"/>
            <a:ext cx="2606040" cy="475488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128" y="1024128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76472" y="98755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3200400" y="1481328"/>
            <a:ext cx="2606040" cy="3364992"/>
          </a:xfrm>
          <a:prstGeom prst="rect">
            <a:avLst/>
          </a:prstGeom>
          <a:solidFill>
            <a:srgbClr val="FAFAF7"/>
          </a:solidFill>
          <a:ln w="12700">
            <a:solidFill>
              <a:srgbClr val="E8E8E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3337560" y="1664208"/>
            <a:ext cx="2331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resource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creation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material costs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035040" y="987552"/>
            <a:ext cx="2606040" cy="47548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1024128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611112" y="98755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035040" y="1481328"/>
            <a:ext cx="2606040" cy="3364992"/>
          </a:xfrm>
          <a:prstGeom prst="rect">
            <a:avLst/>
          </a:prstGeom>
          <a:solidFill>
            <a:srgbClr val="FAFAF7"/>
          </a:solidFill>
          <a:ln w="12700">
            <a:solidFill>
              <a:srgbClr val="E8E8E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6172200" y="1664208"/>
            <a:ext cx="2331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Versatile material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Climate-responsive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for multiple building systems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2D5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463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7BA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9659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and Limitations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Technical, Industry, Regulatory, and Social Barriers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Challenges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77640" cy="1828800"/>
          </a:xfrm>
          <a:prstGeom prst="rect">
            <a:avLst/>
          </a:prstGeom>
          <a:solidFill>
            <a:srgbClr val="FAFAF7"/>
          </a:solidFill>
          <a:ln w="12700">
            <a:solidFill>
              <a:srgbClr val="D4A853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9728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14300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Durability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17830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Susceptible to moisture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Fungal decay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663440" y="1005840"/>
            <a:ext cx="3977640" cy="1828800"/>
          </a:xfrm>
          <a:prstGeom prst="rect">
            <a:avLst/>
          </a:prstGeom>
          <a:solidFill>
            <a:srgbClr val="FAFAF7"/>
          </a:solidFill>
          <a:ln w="12700">
            <a:solidFill>
              <a:srgbClr val="D4A853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097280"/>
            <a:ext cx="594360" cy="5943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68112" y="114300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Attack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800600" y="17830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Termites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Beetles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65760" y="3017520"/>
            <a:ext cx="3977640" cy="1828800"/>
          </a:xfrm>
          <a:prstGeom prst="rect">
            <a:avLst/>
          </a:prstGeom>
          <a:solidFill>
            <a:srgbClr val="FAFAF7"/>
          </a:solidFill>
          <a:ln w="12700">
            <a:solidFill>
              <a:srgbClr val="D4A853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108960"/>
            <a:ext cx="594360" cy="5943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70432" y="315468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Performance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02920" y="37947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appropriate treatment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Detailing critical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4663440" y="3017520"/>
            <a:ext cx="3977640" cy="1828800"/>
          </a:xfrm>
          <a:prstGeom prst="rect">
            <a:avLst/>
          </a:prstGeom>
          <a:solidFill>
            <a:srgbClr val="FAFAF7"/>
          </a:solidFill>
          <a:ln w="12700">
            <a:solidFill>
              <a:srgbClr val="D4A853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108960"/>
            <a:ext cx="594360" cy="5943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68112" y="315468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Variability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4800600" y="37947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size/strength differences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 challenges</a:t>
            </a:r>
            <a:endParaRPr lang="en-US" sz="12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&amp; Regulatory Challenges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2606040" cy="38404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8755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89888"/>
            <a:ext cx="2606040" cy="3456432"/>
          </a:xfrm>
          <a:prstGeom prst="rect">
            <a:avLst/>
          </a:prstGeom>
          <a:solidFill>
            <a:srgbClr val="FAFAF7"/>
          </a:solidFill>
          <a:ln w="12700">
            <a:solidFill>
              <a:srgbClr val="E8E8E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1508760"/>
            <a:ext cx="2386584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processing facilities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standardized products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skilled workforce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987552"/>
            <a:ext cx="2606040" cy="384048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98755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0" y="1389888"/>
            <a:ext cx="2606040" cy="3456432"/>
          </a:xfrm>
          <a:prstGeom prst="rect">
            <a:avLst/>
          </a:prstGeom>
          <a:solidFill>
            <a:srgbClr val="FAFAF7"/>
          </a:solidFill>
          <a:ln w="12700">
            <a:solidFill>
              <a:srgbClr val="E8E8E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10128" y="1508760"/>
            <a:ext cx="2386584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national standards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inclusion in building codes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design guidance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987552"/>
            <a:ext cx="2606040" cy="384048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98755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35040" y="1389888"/>
            <a:ext cx="2606040" cy="3456432"/>
          </a:xfrm>
          <a:prstGeom prst="rect">
            <a:avLst/>
          </a:prstGeom>
          <a:solidFill>
            <a:srgbClr val="FAFAF7"/>
          </a:solidFill>
          <a:ln w="12700">
            <a:solidFill>
              <a:srgbClr val="E8E8E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44768" y="1508760"/>
            <a:ext cx="2386584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perception barriers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 for concrete and steel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to Adaptation in Nigeria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3840480" cy="411480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8755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43400" y="987552"/>
            <a:ext cx="4206240" cy="411480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34840" y="98755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444752"/>
            <a:ext cx="3840480" cy="530352"/>
          </a:xfrm>
          <a:prstGeom prst="rect">
            <a:avLst/>
          </a:prstGeom>
          <a:solidFill>
            <a:srgbClr val="EDF3EC"/>
          </a:solidFill>
          <a:ln w="12700">
            <a:solidFill>
              <a:srgbClr val="E8E8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63040"/>
            <a:ext cx="3657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preservation practices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444752"/>
            <a:ext cx="4206240" cy="530352"/>
          </a:xfrm>
          <a:prstGeom prst="rect">
            <a:avLst/>
          </a:prstGeom>
          <a:solidFill>
            <a:srgbClr val="EDF3EC"/>
          </a:solidFill>
          <a:ln w="12700">
            <a:solidFill>
              <a:srgbClr val="E8E8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1463040"/>
            <a:ext cx="4023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durability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011680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029968"/>
            <a:ext cx="3657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standards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43400" y="2011680"/>
            <a:ext cx="4206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34840" y="2029968"/>
            <a:ext cx="4023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approval process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578608"/>
            <a:ext cx="3840480" cy="530352"/>
          </a:xfrm>
          <a:prstGeom prst="rect">
            <a:avLst/>
          </a:prstGeom>
          <a:solidFill>
            <a:srgbClr val="EDF3EC"/>
          </a:solidFill>
          <a:ln w="12700">
            <a:solidFill>
              <a:srgbClr val="E8E8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596896"/>
            <a:ext cx="3657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awareness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43400" y="2578608"/>
            <a:ext cx="4206240" cy="530352"/>
          </a:xfrm>
          <a:prstGeom prst="rect">
            <a:avLst/>
          </a:prstGeom>
          <a:solidFill>
            <a:srgbClr val="EDF3EC"/>
          </a:solidFill>
          <a:ln w="12700">
            <a:solidFill>
              <a:srgbClr val="E8E8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34840" y="2596896"/>
            <a:ext cx="4023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adoption by professionals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145536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163824"/>
            <a:ext cx="3657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gaps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43400" y="3145536"/>
            <a:ext cx="4206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34840" y="3163824"/>
            <a:ext cx="4023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quality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712464"/>
            <a:ext cx="3840480" cy="530352"/>
          </a:xfrm>
          <a:prstGeom prst="rect">
            <a:avLst/>
          </a:prstGeom>
          <a:solidFill>
            <a:srgbClr val="EDF3EC"/>
          </a:solidFill>
          <a:ln w="12700">
            <a:solidFill>
              <a:srgbClr val="E8E8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730752"/>
            <a:ext cx="3657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considerations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43400" y="3712464"/>
            <a:ext cx="4206240" cy="530352"/>
          </a:xfrm>
          <a:prstGeom prst="rect">
            <a:avLst/>
          </a:prstGeom>
          <a:solidFill>
            <a:srgbClr val="EDF3EC"/>
          </a:solidFill>
          <a:ln w="12700">
            <a:solidFill>
              <a:srgbClr val="E8E8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34840" y="3730752"/>
            <a:ext cx="4023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appropriate detailing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352544"/>
            <a:ext cx="8412480" cy="530352"/>
          </a:xfrm>
          <a:prstGeom prst="rect">
            <a:avLst/>
          </a:prstGeom>
          <a:solidFill>
            <a:srgbClr val="EDF3EC"/>
          </a:solidFill>
          <a:ln w="12700">
            <a:solidFill>
              <a:srgbClr val="7BAE7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370832"/>
            <a:ext cx="8138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challenges highlight the need for a coordinated approach to implementation rather than isolated applications.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2D5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463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7BA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9659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 / Way Forward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Foundation for Bamboo in Nigerian Architecture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77640" cy="1828800"/>
          </a:xfrm>
          <a:prstGeom prst="rect">
            <a:avLst/>
          </a:prstGeom>
          <a:solidFill>
            <a:srgbClr val="FAFAF7"/>
          </a:solidFill>
          <a:ln w="12700">
            <a:solidFill>
              <a:srgbClr val="4A7C59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3977640" cy="41148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024128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00584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150876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material testing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studies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663440" y="1005840"/>
            <a:ext cx="3977640" cy="1828800"/>
          </a:xfrm>
          <a:prstGeom prst="rect">
            <a:avLst/>
          </a:prstGeom>
          <a:solidFill>
            <a:srgbClr val="FAFAF7"/>
          </a:solidFill>
          <a:ln w="12700">
            <a:solidFill>
              <a:srgbClr val="8B6914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1005840"/>
            <a:ext cx="3977640" cy="41148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1024128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66360" y="100584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800600" y="150876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training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curriculum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365760" y="3017520"/>
            <a:ext cx="3977640" cy="1828800"/>
          </a:xfrm>
          <a:prstGeom prst="rect">
            <a:avLst/>
          </a:prstGeom>
          <a:solidFill>
            <a:srgbClr val="FAFAF7"/>
          </a:solidFill>
          <a:ln w="12700">
            <a:solidFill>
              <a:srgbClr val="2D501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65760" y="3017520"/>
            <a:ext cx="3977640" cy="411480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3035808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8680" y="301752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02920" y="352044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centres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treatment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4663440" y="3017520"/>
            <a:ext cx="3977640" cy="1828800"/>
          </a:xfrm>
          <a:prstGeom prst="rect">
            <a:avLst/>
          </a:prstGeom>
          <a:solidFill>
            <a:srgbClr val="FAFAF7"/>
          </a:solidFill>
          <a:ln w="12700">
            <a:solidFill>
              <a:srgbClr val="7BAE7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663440" y="3017520"/>
            <a:ext cx="3977640" cy="411480"/>
          </a:xfrm>
          <a:prstGeom prst="rect">
            <a:avLst/>
          </a:prstGeom>
          <a:solidFill>
            <a:srgbClr val="7BAE7F"/>
          </a:solidFill>
          <a:ln w="12700">
            <a:solidFill>
              <a:srgbClr val="7BAE7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3035808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166360" y="301752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800600" y="352044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standards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regulations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housing programmes</a:t>
            </a:r>
            <a:endParaRPr lang="en-US" sz="12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Areas for Implementation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" y="1005840"/>
            <a:ext cx="1920240" cy="1828800"/>
          </a:xfrm>
          <a:prstGeom prst="oval">
            <a:avLst/>
          </a:prstGeom>
          <a:solidFill>
            <a:srgbClr val="EDF3EC"/>
          </a:solidFill>
          <a:ln w="19050">
            <a:solidFill>
              <a:srgbClr val="7BAE7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4168" y="1325880"/>
            <a:ext cx="621792" cy="6217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2029968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Centres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520440" y="1005840"/>
            <a:ext cx="1920240" cy="1828800"/>
          </a:xfrm>
          <a:prstGeom prst="oval">
            <a:avLst/>
          </a:prstGeom>
          <a:solidFill>
            <a:srgbClr val="EDF3EC"/>
          </a:solidFill>
          <a:ln w="19050">
            <a:solidFill>
              <a:srgbClr val="7BAE7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808" y="1325880"/>
            <a:ext cx="621792" cy="6217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00400" y="2029968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355080" y="1005840"/>
            <a:ext cx="1920240" cy="1828800"/>
          </a:xfrm>
          <a:prstGeom prst="oval">
            <a:avLst/>
          </a:prstGeom>
          <a:solidFill>
            <a:srgbClr val="EDF3EC"/>
          </a:solidFill>
          <a:ln w="19050">
            <a:solidFill>
              <a:srgbClr val="7BAE7F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3448" y="1325880"/>
            <a:ext cx="621792" cy="62179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35040" y="2029968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Eco-tourism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685800" y="3017520"/>
            <a:ext cx="1920240" cy="1828800"/>
          </a:xfrm>
          <a:prstGeom prst="oval">
            <a:avLst/>
          </a:prstGeom>
          <a:solidFill>
            <a:srgbClr val="EDF3EC"/>
          </a:solidFill>
          <a:ln w="19050">
            <a:solidFill>
              <a:srgbClr val="7BAE7F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4168" y="3337560"/>
            <a:ext cx="621792" cy="62179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65760" y="4041648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3520440" y="3017520"/>
            <a:ext cx="1920240" cy="1828800"/>
          </a:xfrm>
          <a:prstGeom prst="oval">
            <a:avLst/>
          </a:prstGeom>
          <a:solidFill>
            <a:srgbClr val="EDF3EC"/>
          </a:solidFill>
          <a:ln w="19050">
            <a:solidFill>
              <a:srgbClr val="7BAE7F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8808" y="3337560"/>
            <a:ext cx="621792" cy="62179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200400" y="4041648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Shelters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Pedestrian Bridges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6355080" y="3017520"/>
            <a:ext cx="1920240" cy="1828800"/>
          </a:xfrm>
          <a:prstGeom prst="oval">
            <a:avLst/>
          </a:prstGeom>
          <a:solidFill>
            <a:srgbClr val="EDF3EC"/>
          </a:solidFill>
          <a:ln w="19050">
            <a:solidFill>
              <a:srgbClr val="7BAE7F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3448" y="3337560"/>
            <a:ext cx="621792" cy="62179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035040" y="4041648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Low-rise Residential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Buildings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2D5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6576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Outlook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8138160" cy="749808"/>
          </a:xfrm>
          <a:prstGeom prst="rect">
            <a:avLst/>
          </a:prstGeom>
          <a:solidFill>
            <a:srgbClr val="1E3B0A"/>
          </a:solidFill>
          <a:ln w="12700">
            <a:solidFill>
              <a:srgbClr val="7BAE7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252728"/>
            <a:ext cx="530352" cy="5303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53312" y="1252728"/>
            <a:ext cx="7269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demand for sustainable construction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94360" y="2039112"/>
            <a:ext cx="8138160" cy="749808"/>
          </a:xfrm>
          <a:prstGeom prst="rect">
            <a:avLst/>
          </a:prstGeom>
          <a:solidFill>
            <a:srgbClr val="1E3B0A"/>
          </a:solidFill>
          <a:ln w="12700">
            <a:solidFill>
              <a:srgbClr val="7BAE7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148840"/>
            <a:ext cx="530352" cy="5303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53312" y="2148840"/>
            <a:ext cx="7269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interest in renewable materials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94360" y="2935224"/>
            <a:ext cx="8138160" cy="749808"/>
          </a:xfrm>
          <a:prstGeom prst="rect">
            <a:avLst/>
          </a:prstGeom>
          <a:solidFill>
            <a:srgbClr val="1E3B0A"/>
          </a:solidFill>
          <a:ln w="12700">
            <a:solidFill>
              <a:srgbClr val="7BAE7F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044952"/>
            <a:ext cx="530352" cy="53035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53312" y="3044952"/>
            <a:ext cx="7269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for bamboo to contribute to climate-responsive architecture in Nigeria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594360" y="3822192"/>
            <a:ext cx="8138160" cy="1005840"/>
          </a:xfrm>
          <a:prstGeom prst="rect">
            <a:avLst/>
          </a:prstGeom>
          <a:solidFill>
            <a:srgbClr val="173308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749808" y="3886200"/>
            <a:ext cx="78181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bamboo construction depends not only on the material itself but on how it is integrated into design, policy, education, and industry.</a:t>
            </a:r>
            <a:endParaRPr lang="en-US" sz="12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2D5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463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7BA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9659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Key Findings and Implications</a:t>
            </a:r>
            <a:endParaRPr lang="en-US" sz="14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02920" cy="640080"/>
          </a:xfrm>
          <a:prstGeom prst="rect">
            <a:avLst/>
          </a:prstGeom>
          <a:solidFill>
            <a:srgbClr val="4A7C5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86968" y="1005840"/>
            <a:ext cx="7891272" cy="640080"/>
          </a:xfrm>
          <a:prstGeom prst="rect">
            <a:avLst/>
          </a:prstGeom>
          <a:solidFill>
            <a:srgbClr val="FAFAF7"/>
          </a:solidFill>
          <a:ln w="12700">
            <a:solidFill>
              <a:srgbClr val="E8E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051560"/>
            <a:ext cx="7662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Bamboo has evolved from a traditional material into a contemporary building resource.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810512"/>
            <a:ext cx="502920" cy="640080"/>
          </a:xfrm>
          <a:prstGeom prst="rect">
            <a:avLst/>
          </a:prstGeom>
          <a:solidFill>
            <a:srgbClr val="8B69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810512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86968" y="1810512"/>
            <a:ext cx="7891272" cy="640080"/>
          </a:xfrm>
          <a:prstGeom prst="rect">
            <a:avLst/>
          </a:prstGeom>
          <a:solidFill>
            <a:srgbClr val="EDF3EC"/>
          </a:solidFill>
          <a:ln w="12700">
            <a:solidFill>
              <a:srgbClr val="E8E8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856232"/>
            <a:ext cx="7662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case studies demonstrate its versatility across multiple building systems.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615184"/>
            <a:ext cx="502920" cy="640080"/>
          </a:xfrm>
          <a:prstGeom prst="rect">
            <a:avLst/>
          </a:prstGeom>
          <a:solidFill>
            <a:srgbClr val="4A7C5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615184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86968" y="2615184"/>
            <a:ext cx="7891272" cy="640080"/>
          </a:xfrm>
          <a:prstGeom prst="rect">
            <a:avLst/>
          </a:prstGeom>
          <a:solidFill>
            <a:srgbClr val="FAFAF7"/>
          </a:solidFill>
          <a:ln w="12700">
            <a:solidFill>
              <a:srgbClr val="E8E8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2660904"/>
            <a:ext cx="7662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applications depend on proper treatment, detailing, and construction practices.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419856"/>
            <a:ext cx="502920" cy="640080"/>
          </a:xfrm>
          <a:prstGeom prst="rect">
            <a:avLst/>
          </a:prstGeom>
          <a:solidFill>
            <a:srgbClr val="8B69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419856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86968" y="3419856"/>
            <a:ext cx="7891272" cy="640080"/>
          </a:xfrm>
          <a:prstGeom prst="rect">
            <a:avLst/>
          </a:prstGeom>
          <a:solidFill>
            <a:srgbClr val="EDF3EC"/>
          </a:solidFill>
          <a:ln w="12700">
            <a:solidFill>
              <a:srgbClr val="E8E8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3465576"/>
            <a:ext cx="7662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 has the natural resources and opportunities to expand bamboo construction.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4224528"/>
            <a:ext cx="502920" cy="640080"/>
          </a:xfrm>
          <a:prstGeom prst="rect">
            <a:avLst/>
          </a:prstGeom>
          <a:solidFill>
            <a:srgbClr val="4A7C5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224528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86968" y="4224528"/>
            <a:ext cx="7891272" cy="640080"/>
          </a:xfrm>
          <a:prstGeom prst="rect">
            <a:avLst/>
          </a:prstGeom>
          <a:solidFill>
            <a:srgbClr val="FAFAF7"/>
          </a:solidFill>
          <a:ln w="12700">
            <a:solidFill>
              <a:srgbClr val="E8E8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4270248"/>
            <a:ext cx="7662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investment in standards, skills, and awareness is essential for wider adoption.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4736592"/>
            <a:ext cx="8412480" cy="274320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7365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A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806 – Advanced Building Technology  ·  Bamboo in Building Systems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2026-07-13T12:26:35Z</dcterms:created>
  <dcterms:modified xsi:type="dcterms:W3CDTF">2026-07-13T12:26:35Z</dcterms:modified>
</cp:coreProperties>
</file>